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858000" cy="9144000"/>
  <p:embeddedFontLst>
    <p:embeddedFont>
      <p:font typeface="Plus Jakarta Sans"/>
      <p:regular r:id="rId24"/>
      <p:bold r:id="rId25"/>
      <p:italic r:id="rId26"/>
      <p:boldItalic r:id="rId27"/>
    </p:embeddedFont>
    <p:embeddedFont>
      <p:font typeface="Plus Jakarta Sans SemiBold"/>
      <p:regular r:id="rId28"/>
      <p:bold r:id="rId29"/>
      <p:italic r:id="rId30"/>
      <p:boldItalic r:id="rId31"/>
    </p:embeddedFont>
    <p:embeddedFont>
      <p:font typeface="Space Grotesk"/>
      <p:regular r:id="rId32"/>
      <p:bold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4" roundtripDataSignature="AMtx7mg4YJgMUr3tzhkRFXkEqB05K0ez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2681647-0AE0-4264-A6B2-FEEDBBA2D8E6}">
  <a:tblStyle styleId="{92681647-0AE0-4264-A6B2-FEEDBBA2D8E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PlusJakartaSans-regular.fntdata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PlusJakartaSans-italic.fntdata"/><Relationship Id="rId25" Type="http://schemas.openxmlformats.org/officeDocument/2006/relationships/font" Target="fonts/PlusJakartaSans-bold.fntdata"/><Relationship Id="rId28" Type="http://schemas.openxmlformats.org/officeDocument/2006/relationships/font" Target="fonts/PlusJakartaSansSemiBold-regular.fntdata"/><Relationship Id="rId27" Type="http://schemas.openxmlformats.org/officeDocument/2006/relationships/font" Target="fonts/PlusJakartaSans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lusJakartaSansSemiBold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lusJakartaSansSemiBold-boldItalic.fntdata"/><Relationship Id="rId30" Type="http://schemas.openxmlformats.org/officeDocument/2006/relationships/font" Target="fonts/PlusJakartaSansSemiBold-italic.fntdata"/><Relationship Id="rId11" Type="http://schemas.openxmlformats.org/officeDocument/2006/relationships/slide" Target="slides/slide5.xml"/><Relationship Id="rId33" Type="http://schemas.openxmlformats.org/officeDocument/2006/relationships/font" Target="fonts/SpaceGrotesk-bold.fntdata"/><Relationship Id="rId10" Type="http://schemas.openxmlformats.org/officeDocument/2006/relationships/slide" Target="slides/slide4.xml"/><Relationship Id="rId32" Type="http://schemas.openxmlformats.org/officeDocument/2006/relationships/font" Target="fonts/SpaceGrotesk-regular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customschemas.google.com/relationships/presentationmetadata" Target="meta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4" name="Google Shape;12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0" name="Google Shape;14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6" name="Google Shape;15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8" name="Google Shape;17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7" name="Google Shape;19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9" name="Google Shape;23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1" name="Google Shape;26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9" name="Google Shape;26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fa48b68155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9" name="Google Shape;279;g3fa48b68155_1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7" name="Google Shape;28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0" name="Google Shape;310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7" name="Google Shape;33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fa4490e16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0" name="Google Shape;350;g3fa4490e163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Relationship Id="rId5" Type="http://schemas.openxmlformats.org/officeDocument/2006/relationships/image" Target="../media/image8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9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4.png"/><Relationship Id="rId7" Type="http://schemas.openxmlformats.org/officeDocument/2006/relationships/image" Target="../media/image22.png"/><Relationship Id="rId8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Relationship Id="rId11" Type="http://schemas.openxmlformats.org/officeDocument/2006/relationships/image" Target="../media/image31.png"/><Relationship Id="rId10" Type="http://schemas.openxmlformats.org/officeDocument/2006/relationships/image" Target="../media/image26.png"/><Relationship Id="rId12" Type="http://schemas.openxmlformats.org/officeDocument/2006/relationships/image" Target="../media/image20.png"/><Relationship Id="rId9" Type="http://schemas.openxmlformats.org/officeDocument/2006/relationships/image" Target="../media/image25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Relationship Id="rId8" Type="http://schemas.openxmlformats.org/officeDocument/2006/relationships/image" Target="../media/image2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33.png"/><Relationship Id="rId5" Type="http://schemas.openxmlformats.org/officeDocument/2006/relationships/image" Target="../media/image30.png"/><Relationship Id="rId6" Type="http://schemas.openxmlformats.org/officeDocument/2006/relationships/image" Target="../media/image27.png"/><Relationship Id="rId7" Type="http://schemas.openxmlformats.org/officeDocument/2006/relationships/image" Target="../media/image3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41.png"/><Relationship Id="rId5" Type="http://schemas.openxmlformats.org/officeDocument/2006/relationships/image" Target="../media/image50.png"/><Relationship Id="rId6" Type="http://schemas.openxmlformats.org/officeDocument/2006/relationships/image" Target="../media/image36.png"/><Relationship Id="rId7" Type="http://schemas.openxmlformats.org/officeDocument/2006/relationships/image" Target="../media/image4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38.png"/><Relationship Id="rId5" Type="http://schemas.openxmlformats.org/officeDocument/2006/relationships/image" Target="../media/image46.png"/><Relationship Id="rId6" Type="http://schemas.openxmlformats.org/officeDocument/2006/relationships/image" Target="../media/image39.png"/><Relationship Id="rId7" Type="http://schemas.openxmlformats.org/officeDocument/2006/relationships/image" Target="../media/image3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40.png"/><Relationship Id="rId11" Type="http://schemas.openxmlformats.org/officeDocument/2006/relationships/image" Target="../media/image48.png"/><Relationship Id="rId10" Type="http://schemas.openxmlformats.org/officeDocument/2006/relationships/image" Target="../media/image49.png"/><Relationship Id="rId12" Type="http://schemas.openxmlformats.org/officeDocument/2006/relationships/image" Target="../media/image52.png"/><Relationship Id="rId9" Type="http://schemas.openxmlformats.org/officeDocument/2006/relationships/image" Target="../media/image44.png"/><Relationship Id="rId5" Type="http://schemas.openxmlformats.org/officeDocument/2006/relationships/image" Target="../media/image68.png"/><Relationship Id="rId6" Type="http://schemas.openxmlformats.org/officeDocument/2006/relationships/image" Target="../media/image45.png"/><Relationship Id="rId7" Type="http://schemas.openxmlformats.org/officeDocument/2006/relationships/image" Target="../media/image51.png"/><Relationship Id="rId8" Type="http://schemas.openxmlformats.org/officeDocument/2006/relationships/image" Target="../media/image4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7.png"/><Relationship Id="rId4" Type="http://schemas.openxmlformats.org/officeDocument/2006/relationships/image" Target="../media/image5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3.png"/><Relationship Id="rId4" Type="http://schemas.openxmlformats.org/officeDocument/2006/relationships/image" Target="../media/image5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1" Type="http://schemas.openxmlformats.org/officeDocument/2006/relationships/image" Target="../media/image58.png"/><Relationship Id="rId10" Type="http://schemas.openxmlformats.org/officeDocument/2006/relationships/image" Target="../media/image61.png"/><Relationship Id="rId13" Type="http://schemas.openxmlformats.org/officeDocument/2006/relationships/image" Target="../media/image65.png"/><Relationship Id="rId1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Relationship Id="rId4" Type="http://schemas.openxmlformats.org/officeDocument/2006/relationships/image" Target="../media/image59.png"/><Relationship Id="rId9" Type="http://schemas.openxmlformats.org/officeDocument/2006/relationships/image" Target="../media/image23.png"/><Relationship Id="rId15" Type="http://schemas.openxmlformats.org/officeDocument/2006/relationships/image" Target="../media/image62.png"/><Relationship Id="rId14" Type="http://schemas.openxmlformats.org/officeDocument/2006/relationships/image" Target="../media/image66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60.png"/><Relationship Id="rId8" Type="http://schemas.openxmlformats.org/officeDocument/2006/relationships/image" Target="../media/image3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6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43375" y="494701"/>
            <a:ext cx="3771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38400" y="4778573"/>
            <a:ext cx="73152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859455" y="1234326"/>
            <a:ext cx="84732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Zapatillas Duoc: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5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 E-Commerce &amp; Retail Analytics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2286000" y="3727251"/>
            <a:ext cx="7620000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38BDF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 Web de Retail a medida con Portal E-Commerce y Módulo de Analítica Predictiva de Inventario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38400" y="4978598"/>
            <a:ext cx="1905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Ingeniería en Informática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629150" y="4978598"/>
            <a:ext cx="32861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42875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Escuela de Informática y Telecomunicaciones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201025" y="4978598"/>
            <a:ext cx="15525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Sede Puente Alto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92" name="Google Shape;92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438400" y="5007173"/>
            <a:ext cx="1809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29150" y="5007173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01025" y="5007173"/>
            <a:ext cx="10477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9" name="Google Shape;9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14575"/>
            <a:ext cx="5348287" cy="29526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2687" y="2314575"/>
            <a:ext cx="5348287" cy="295260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"/>
          <p:cNvSpPr txBox="1"/>
          <p:nvPr/>
        </p:nvSpPr>
        <p:spPr>
          <a:xfrm>
            <a:off x="923925" y="2657475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812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Equipo de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6605587" y="2657475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1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Información General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605587" y="3095625"/>
            <a:ext cx="466248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Carrera: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Ingeniería en Informática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605587" y="3497460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Caso de Estudio: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Zapatillas Duoc (Comercio Local de Calzado)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6605587" y="4158257"/>
            <a:ext cx="46626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Sede: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275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Puente Alto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605587" y="4560093"/>
            <a:ext cx="466248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Año de Ejecución: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8" name="Google Shape;108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3925" y="2686050"/>
            <a:ext cx="28128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923925" y="309562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Bastián Quilodrán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923925" y="348421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Israel González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923925" y="387280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Horacio Vergara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923925" y="426139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Josías González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23925" y="4649985"/>
            <a:ext cx="4662487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31432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Luis Alcaide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4" name="Google Shape;114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2686050"/>
            <a:ext cx="22413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314801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353660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3925192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4313783"/>
            <a:ext cx="2190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3925" y="4702373"/>
            <a:ext cx="2190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Integrantes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6" name="Google Shape;12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173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2687" y="1981200"/>
            <a:ext cx="5348287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"/>
          <p:cNvSpPr txBox="1"/>
          <p:nvPr/>
        </p:nvSpPr>
        <p:spPr>
          <a:xfrm>
            <a:off x="581025" y="1621200"/>
            <a:ext cx="53484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 Web de Retail desarrollado a medida para </a:t>
            </a:r>
            <a:r>
              <a:rPr b="1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Zapatillas Duoc</a:t>
            </a:r>
            <a:r>
              <a:rPr b="0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integrando </a:t>
            </a:r>
            <a:r>
              <a:rPr lang="en-US" sz="1500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</a:t>
            </a:r>
            <a:r>
              <a:rPr b="0" i="0" lang="en-US" sz="150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componentes estratégicos: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9" name="Google Shape;129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72212" y="1990725"/>
            <a:ext cx="5329237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"/>
          <p:cNvSpPr txBox="1"/>
          <p:nvPr/>
        </p:nvSpPr>
        <p:spPr>
          <a:xfrm>
            <a:off x="1009650" y="2781300"/>
            <a:ext cx="491966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Portal E-Commerce: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Venta directa para clientes con captura transaccional en PostgreSQL en tiempo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/>
          <p:cNvSpPr txBox="1"/>
          <p:nvPr/>
        </p:nvSpPr>
        <p:spPr>
          <a:xfrm>
            <a:off x="1009650" y="3520380"/>
            <a:ext cx="4919662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Motor de Analítica Predictiva: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Algoritmos de Machine Learning para predecir demanda de tallas críticas.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1009650" y="4259460"/>
            <a:ext cx="49197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lang="en-US" sz="1350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Dashboard HQ Admin</a:t>
            </a: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Notificaciones automáticas previas al quiebre de stock en modelos top ventas</a:t>
            </a:r>
            <a:r>
              <a:rPr lang="en-US" sz="135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y </a:t>
            </a:r>
            <a:r>
              <a:rPr lang="en-US" sz="135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métricas</a:t>
            </a:r>
            <a:r>
              <a:rPr lang="en-US" sz="1350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claves de ventas.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33" name="Google Shape;133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2805112"/>
            <a:ext cx="2381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354419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4283273"/>
            <a:ext cx="18097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Descripción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3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2" name="Google Shape;14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4"/>
          <p:cNvSpPr txBox="1"/>
          <p:nvPr/>
        </p:nvSpPr>
        <p:spPr>
          <a:xfrm>
            <a:off x="581025" y="485775"/>
            <a:ext cx="5590698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Problemática Actual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581025" y="2550914"/>
            <a:ext cx="53244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1. Ventas Perdidas por Quiebre de Stock: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Pérdida estimada de </a:t>
            </a:r>
            <a:r>
              <a:rPr b="1" i="0" lang="en-US" sz="1350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~$1.800.000 CLP/mes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 no contar con tallas populares (9, 10 y 11 US).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581025" y="3516659"/>
            <a:ext cx="5324475" cy="82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2. Falta de Registro Centralizado: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Gestión manual de inventario sin e-commerce transaccional en tiempo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581025" y="4482405"/>
            <a:ext cx="5324475" cy="548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3. Capital de Trabajo Atrapado: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Dinero inmovilizado en bodegas con pares de baja rotación.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8" name="Google Shape;14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55813" y="360625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7238" y="4578500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5988" y="2505075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4138" y="4578500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7238" y="2505075"/>
            <a:ext cx="246697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7238" y="360625"/>
            <a:ext cx="2466975" cy="184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8" name="Google Shape;1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252960"/>
            <a:ext cx="3517850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7000" y="2252960"/>
            <a:ext cx="3517850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2975" y="2252960"/>
            <a:ext cx="3517850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5"/>
          <p:cNvSpPr txBox="1"/>
          <p:nvPr/>
        </p:nvSpPr>
        <p:spPr>
          <a:xfrm>
            <a:off x="876300" y="335786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1. Portal Cliente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876300" y="3738860"/>
            <a:ext cx="2927300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Tienda online interactiva con catálogo, filtro por tallas y carrito de compras para capturar ventas directas y registrar transacciones en BD.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5" name="Google Shape;165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2275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5"/>
          <p:cNvSpPr txBox="1"/>
          <p:nvPr/>
        </p:nvSpPr>
        <p:spPr>
          <a:xfrm>
            <a:off x="4632275" y="335786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2. Motor Analytics (ML)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4632275" y="373886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Procesa el historial de compras en PostgreSQL para proyectar qué tallas específicas se venderán en las próximas semanas.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8" name="Google Shape;168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88250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5"/>
          <p:cNvSpPr txBox="1"/>
          <p:nvPr/>
        </p:nvSpPr>
        <p:spPr>
          <a:xfrm>
            <a:off x="8388250" y="335786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3. Dashboard HQ Admin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8388250" y="373886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Panel de administración con alertas de bajo stock, métricas clave de ventas y sugerencias automáticas de reposición.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1" name="Google Shape;171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81075" y="2676822"/>
            <a:ext cx="40957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760862" y="2676822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493025" y="2676822"/>
            <a:ext cx="4095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5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Propuesta de Solución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0" name="Google Shape;18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23504"/>
            <a:ext cx="5348287" cy="29348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2687" y="2323504"/>
            <a:ext cx="5348287" cy="293489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6"/>
          <p:cNvSpPr txBox="1"/>
          <p:nvPr/>
        </p:nvSpPr>
        <p:spPr>
          <a:xfrm>
            <a:off x="923925" y="2694979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1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Sin Software (Operación Actual)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6605587" y="2694979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412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 Software (Inversión $3.2M)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5" name="Google Shape;18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3925" y="2723554"/>
            <a:ext cx="22413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6"/>
          <p:cNvSpPr txBox="1"/>
          <p:nvPr/>
        </p:nvSpPr>
        <p:spPr>
          <a:xfrm>
            <a:off x="923925" y="3133129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Pérdida por quiebres: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~$1.800.000 CLP/mes en clientes que no hallan su talla.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923925" y="3765351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Inventario inmovilizado: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$15.000.000 CLP estancados en stock de baja rotación.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923925" y="4397573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Margen reducido: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Ventas forzadas con liquidaciones agresivas de hasta 35% de descuento.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9" name="Google Shape;189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2723554"/>
            <a:ext cx="22413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6"/>
          <p:cNvSpPr txBox="1"/>
          <p:nvPr/>
        </p:nvSpPr>
        <p:spPr>
          <a:xfrm>
            <a:off x="6605587" y="3133129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Recuperación de ventas: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Captura de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+$1.100.000 CLP/mes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 evitar quiebres.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6605587" y="3765351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Capital liberado: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Optimización de $3.500.000 CLP en compras eficientes.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6605587" y="4397573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Retorno de Inversión (ROI):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Recuperación total de la inversión en solo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 a 4 meses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Propuesta de Valor Comercial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9" name="Google Shape;19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7"/>
          <p:cNvSpPr txBox="1"/>
          <p:nvPr/>
        </p:nvSpPr>
        <p:spPr>
          <a:xfrm>
            <a:off x="4507989" y="2697509"/>
            <a:ext cx="3176021" cy="5200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Objetivo General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1571625" y="3455640"/>
            <a:ext cx="90487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Desarrollar una plataforma web integral que combine la </a:t>
            </a:r>
            <a:r>
              <a:rPr b="1" i="0" lang="en-US" sz="1800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venta E-Commerce</a:t>
            </a:r>
            <a:r>
              <a:rPr b="0" i="0" lang="en-US" sz="18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y el </a:t>
            </a:r>
            <a:r>
              <a:rPr b="1" i="0" lang="en-US" sz="1800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análisis predictivo de inventario</a:t>
            </a:r>
            <a:r>
              <a:rPr b="0" i="0" lang="en-US" sz="1800" u="none" cap="none" strike="noStrike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reduciendo los quiebres de stock en tallas clave y rentabilizando la operación de Zapatillas Duoc con una inversión acotada.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8"/>
          <p:cNvSpPr txBox="1"/>
          <p:nvPr/>
        </p:nvSpPr>
        <p:spPr>
          <a:xfrm>
            <a:off x="1009650" y="2861369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Construir el Portal E-Commerce: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Tienda web con catálogo interactivo y registro transaccional automatizado.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1009650" y="3326159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Diseñar la BD Relacional: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Base de datos PostgreSQL para consolidar usuarios, compras e inventario por talla.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8"/>
          <p:cNvSpPr txBox="1"/>
          <p:nvPr/>
        </p:nvSpPr>
        <p:spPr>
          <a:xfrm>
            <a:off x="1009650" y="379095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Motor Predictivo: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Algoritmo en Python para proyectar necesidades de reposición según patrones de venta.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8"/>
          <p:cNvSpPr txBox="1"/>
          <p:nvPr/>
        </p:nvSpPr>
        <p:spPr>
          <a:xfrm>
            <a:off x="1009650" y="4255740"/>
            <a:ext cx="10601325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Desplegar Dashboard HQ:</a:t>
            </a:r>
            <a:r>
              <a:rPr b="0" i="0" lang="en-US" sz="13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Panel de control administrativo para visualización de métricas, stock crítico y alertas preventivas.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1" name="Google Shape;21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88518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349972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3814762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4279552"/>
            <a:ext cx="238125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8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Objetivos Específicos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1" name="Google Shape;22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2" name="Google Shape;222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007393"/>
            <a:ext cx="5348287" cy="35671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3" name="Google Shape;223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2687" y="2007393"/>
            <a:ext cx="5348287" cy="35671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9"/>
          <p:cNvSpPr txBox="1"/>
          <p:nvPr/>
        </p:nvSpPr>
        <p:spPr>
          <a:xfrm>
            <a:off x="923925" y="2378868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555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2C55E"/>
                </a:solidFill>
                <a:latin typeface="Space Grotesk"/>
                <a:ea typeface="Space Grotesk"/>
                <a:cs typeface="Space Grotesk"/>
                <a:sym typeface="Space Grotesk"/>
              </a:rPr>
              <a:t>Qué SÍ hace 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9"/>
          <p:cNvSpPr txBox="1"/>
          <p:nvPr/>
        </p:nvSpPr>
        <p:spPr>
          <a:xfrm>
            <a:off x="6605587" y="2378868"/>
            <a:ext cx="4895611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669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F4444"/>
                </a:solidFill>
                <a:latin typeface="Space Grotesk"/>
                <a:ea typeface="Space Grotesk"/>
                <a:cs typeface="Space Grotesk"/>
                <a:sym typeface="Space Grotesk"/>
              </a:rPr>
              <a:t>Qué NO hace 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6" name="Google Shape;226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23925" y="2407443"/>
            <a:ext cx="19556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9"/>
          <p:cNvSpPr txBox="1"/>
          <p:nvPr/>
        </p:nvSpPr>
        <p:spPr>
          <a:xfrm>
            <a:off x="923925" y="2817018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Catálogo y Compras: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Selección de tallas, carrito y registro en BD.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9"/>
          <p:cNvSpPr txBox="1"/>
          <p:nvPr/>
        </p:nvSpPr>
        <p:spPr>
          <a:xfrm>
            <a:off x="923925" y="3449240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Gestión BD: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Almacena ventas e inventario actualizado en tiempo real.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9"/>
          <p:cNvSpPr txBox="1"/>
          <p:nvPr/>
        </p:nvSpPr>
        <p:spPr>
          <a:xfrm>
            <a:off x="923925" y="4081462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Predicción: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Alertas preventivas antes de agotar tallas demandadas.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9"/>
          <p:cNvSpPr txBox="1"/>
          <p:nvPr/>
        </p:nvSpPr>
        <p:spPr>
          <a:xfrm>
            <a:off x="923925" y="4713684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Dashboard: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Indicadores clave (KPIs) para la toma de decisiones.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1" name="Google Shape;231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2407443"/>
            <a:ext cx="16698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 txBox="1"/>
          <p:nvPr/>
        </p:nvSpPr>
        <p:spPr>
          <a:xfrm>
            <a:off x="6605587" y="2817018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gestiona el transporte físico o logística de despacho a domicilio.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 txBox="1"/>
          <p:nvPr/>
        </p:nvSpPr>
        <p:spPr>
          <a:xfrm>
            <a:off x="6605587" y="3449240"/>
            <a:ext cx="46624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realiza facturación electrónica con SII (emite comprobantes web).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9"/>
          <p:cNvSpPr txBox="1"/>
          <p:nvPr/>
        </p:nvSpPr>
        <p:spPr>
          <a:xfrm>
            <a:off x="6605587" y="4081462"/>
            <a:ext cx="4662487" cy="25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procesa pagos multimoneda internacionales.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9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Alcances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1" name="Google Shape;24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82440"/>
            <a:ext cx="3517850" cy="28170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37000" y="2382440"/>
            <a:ext cx="3517850" cy="28170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4" name="Google Shape;244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2975" y="2382440"/>
            <a:ext cx="3517850" cy="281701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76300" y="267771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10"/>
          <p:cNvSpPr txBox="1"/>
          <p:nvPr/>
        </p:nvSpPr>
        <p:spPr>
          <a:xfrm>
            <a:off x="876300" y="348734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Cliente Comprador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876300" y="386834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Navega por la tienda web, realiza compras de calzado, filtra por modelo/talla y consulta el estado de sus pedidos en línea.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8" name="Google Shape;248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32275" y="267771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10"/>
          <p:cNvSpPr txBox="1"/>
          <p:nvPr/>
        </p:nvSpPr>
        <p:spPr>
          <a:xfrm>
            <a:off x="4632275" y="348734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Administrador HQ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4632275" y="386834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Gestiona el catálogo, revisa ventas totales, analiza proyecciones de demanda y confirma órdenes de reabastecimiento.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1" name="Google Shape;251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88250" y="267771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0"/>
          <p:cNvSpPr txBox="1"/>
          <p:nvPr/>
        </p:nvSpPr>
        <p:spPr>
          <a:xfrm>
            <a:off x="8388250" y="3487340"/>
            <a:ext cx="307366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Operador Bodega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8388250" y="3868340"/>
            <a:ext cx="2927300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Consulta alertas puntuales de stock crítico para reorganizar el inventario físico en la tienda y recepcionar pedidos.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4" name="Google Shape;254;p1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28700" y="2806303"/>
            <a:ext cx="3143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1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713237" y="2806303"/>
            <a:ext cx="4572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6" name="Google Shape;256;p1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469213" y="2806303"/>
            <a:ext cx="4572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10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Usuarios y Roles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Lista de Requerimientos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5" name="Google Shape;26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000" y="993200"/>
            <a:ext cx="7362794" cy="5629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9194" y="1076325"/>
            <a:ext cx="4440407" cy="2660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1" name="Google Shape;27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2"/>
          <p:cNvSpPr txBox="1"/>
          <p:nvPr/>
        </p:nvSpPr>
        <p:spPr>
          <a:xfrm>
            <a:off x="581025" y="1981200"/>
            <a:ext cx="561570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Interface E-Commerce &amp; Dashboard HQ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2"/>
          <p:cNvSpPr txBox="1"/>
          <p:nvPr/>
        </p:nvSpPr>
        <p:spPr>
          <a:xfrm>
            <a:off x="581025" y="2390775"/>
            <a:ext cx="53482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Portal Cliente: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Navegación fluida con selección de modelo, talla y pago en un clic. Registro inmediato en PostgreSQL.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2"/>
          <p:cNvSpPr txBox="1"/>
          <p:nvPr/>
        </p:nvSpPr>
        <p:spPr>
          <a:xfrm>
            <a:off x="581025" y="3051571"/>
            <a:ext cx="53482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Dashboard Predictivo: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Panel de control con alertas visuales (ej. </a:t>
            </a:r>
            <a:r>
              <a:rPr b="0" i="1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"Comprar 12 pares Talla 10 US"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) para prevenir la pérdida de ventas.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2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Mockups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2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fa48b68155_1_3"/>
          <p:cNvSpPr txBox="1"/>
          <p:nvPr/>
        </p:nvSpPr>
        <p:spPr>
          <a:xfrm>
            <a:off x="581025" y="485775"/>
            <a:ext cx="115815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lang="en-US" sz="310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Mockups</a:t>
            </a:r>
            <a:endParaRPr b="1" sz="3100">
              <a:solidFill>
                <a:srgbClr val="F8FAFC"/>
              </a:solidFill>
              <a:latin typeface="Space Grotesk"/>
              <a:ea typeface="Space Grotesk"/>
              <a:cs typeface="Space Grotesk"/>
              <a:sym typeface="Space Grotesk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t/>
            </a:r>
            <a:endParaRPr b="1" sz="3100">
              <a:solidFill>
                <a:srgbClr val="F8FAFC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282" name="Google Shape;282;g3fa48b68155_1_3"/>
          <p:cNvSpPr/>
          <p:nvPr/>
        </p:nvSpPr>
        <p:spPr>
          <a:xfrm>
            <a:off x="581025" y="923925"/>
            <a:ext cx="5730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" name="Google Shape;283;g3fa48b68155_1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975" y="1228725"/>
            <a:ext cx="4767936" cy="5113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g3fa48b68155_1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1936" y="1353575"/>
            <a:ext cx="6096006" cy="511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9" name="Google Shape;28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391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90" name="Google Shape;290;p13"/>
          <p:cNvGraphicFramePr/>
          <p:nvPr/>
        </p:nvGraphicFramePr>
        <p:xfrm>
          <a:off x="581025" y="20615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{92681647-0AE0-4264-A6B2-FEEDBBA2D8E6}</a:tableStyleId>
              </a:tblPr>
              <a:tblGrid>
                <a:gridCol w="6495300"/>
                <a:gridCol w="1328875"/>
                <a:gridCol w="3186700"/>
              </a:tblGrid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Nombre Fase / Hito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Fechas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Costos Estimados (CLP)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1: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E-Commerce Cliente &amp; BD PostgreSQL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1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$800.000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2: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Engine Analytics &amp; Algoritmo Predictivo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2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$1.000.000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3: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Dashboard HQ &amp; Vista Operativa Bodega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3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$900.000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Fase 4:</a:t>
                      </a: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Despliegue Cloud, Pruebas y Puesta en Marcha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Mes 4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94A3B8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$500.000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7647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F8FAF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Costo Total del Proyecto: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00D2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$3.200.000 CLP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91" name="Google Shape;291;p13"/>
          <p:cNvSpPr/>
          <p:nvPr/>
        </p:nvSpPr>
        <p:spPr>
          <a:xfrm>
            <a:off x="590550" y="2634853"/>
            <a:ext cx="6495305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3"/>
          <p:cNvSpPr/>
          <p:nvPr/>
        </p:nvSpPr>
        <p:spPr>
          <a:xfrm>
            <a:off x="7085855" y="2634853"/>
            <a:ext cx="1328886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3"/>
          <p:cNvSpPr/>
          <p:nvPr/>
        </p:nvSpPr>
        <p:spPr>
          <a:xfrm>
            <a:off x="8414742" y="2634853"/>
            <a:ext cx="3186707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590550" y="3217664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3"/>
          <p:cNvSpPr/>
          <p:nvPr/>
        </p:nvSpPr>
        <p:spPr>
          <a:xfrm>
            <a:off x="7085855" y="3217664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8414742" y="3217664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3"/>
          <p:cNvSpPr/>
          <p:nvPr/>
        </p:nvSpPr>
        <p:spPr>
          <a:xfrm>
            <a:off x="590550" y="3790950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/>
          <p:nvPr/>
        </p:nvSpPr>
        <p:spPr>
          <a:xfrm>
            <a:off x="7085855" y="3790950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3"/>
          <p:cNvSpPr/>
          <p:nvPr/>
        </p:nvSpPr>
        <p:spPr>
          <a:xfrm>
            <a:off x="8414742" y="3790950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3"/>
          <p:cNvSpPr/>
          <p:nvPr/>
        </p:nvSpPr>
        <p:spPr>
          <a:xfrm>
            <a:off x="590550" y="4364235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7085855" y="4364235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8414742" y="4364235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/>
          <p:nvPr/>
        </p:nvSpPr>
        <p:spPr>
          <a:xfrm>
            <a:off x="590550" y="4937521"/>
            <a:ext cx="649530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7085855" y="4937521"/>
            <a:ext cx="1328886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3"/>
          <p:cNvSpPr/>
          <p:nvPr/>
        </p:nvSpPr>
        <p:spPr>
          <a:xfrm>
            <a:off x="8414742" y="4937521"/>
            <a:ext cx="3186707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Hitos Importantes y Costos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2" name="Google Shape;31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98043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15062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32081" y="2252960"/>
            <a:ext cx="2578893" cy="30759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7" name="Google Shape;317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76300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14"/>
          <p:cNvSpPr txBox="1"/>
          <p:nvPr/>
        </p:nvSpPr>
        <p:spPr>
          <a:xfrm>
            <a:off x="876300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Python ML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4"/>
          <p:cNvSpPr txBox="1"/>
          <p:nvPr/>
        </p:nvSpPr>
        <p:spPr>
          <a:xfrm>
            <a:off x="876300" y="3738860"/>
            <a:ext cx="1988343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Motor analítico desarrollado en Python para modelos predictivos de series temporales y estimación de demanda.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0" name="Google Shape;320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693318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4"/>
          <p:cNvSpPr txBox="1"/>
          <p:nvPr/>
        </p:nvSpPr>
        <p:spPr>
          <a:xfrm>
            <a:off x="3693318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PostgreSQL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 txBox="1"/>
          <p:nvPr/>
        </p:nvSpPr>
        <p:spPr>
          <a:xfrm>
            <a:off x="3693318" y="3738860"/>
            <a:ext cx="1988343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Base de datos relacional robusta e hiper-escalable para consolidar inventarios, clientes y transacciones.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3" name="Google Shape;323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10337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4"/>
          <p:cNvSpPr txBox="1"/>
          <p:nvPr/>
        </p:nvSpPr>
        <p:spPr>
          <a:xfrm>
            <a:off x="6510337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Frontend Web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4"/>
          <p:cNvSpPr txBox="1"/>
          <p:nvPr/>
        </p:nvSpPr>
        <p:spPr>
          <a:xfrm>
            <a:off x="6510337" y="3738860"/>
            <a:ext cx="1988343" cy="1294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 responsiva en React/HTML5 para el Portal E-Commerce y el Dashboard Administrativo.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6" name="Google Shape;326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327356" y="2548235"/>
            <a:ext cx="6191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14"/>
          <p:cNvSpPr txBox="1"/>
          <p:nvPr/>
        </p:nvSpPr>
        <p:spPr>
          <a:xfrm>
            <a:off x="9327356" y="3357860"/>
            <a:ext cx="208776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Cloud Deploy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4"/>
          <p:cNvSpPr txBox="1"/>
          <p:nvPr/>
        </p:nvSpPr>
        <p:spPr>
          <a:xfrm>
            <a:off x="9327356" y="3738860"/>
            <a:ext cx="1988343" cy="10358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Servicios en la nube con altos estándares de seguridad y latencia reducida (&lt; 2 segundos).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29" name="Google Shape;329;p1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28700" y="2676822"/>
            <a:ext cx="3143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14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3845718" y="2676822"/>
            <a:ext cx="3143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14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638925" y="2676822"/>
            <a:ext cx="3619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Google Shape;332;p14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408318" y="2676822"/>
            <a:ext cx="4572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4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Stack Tecnológico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9" name="Google Shape;33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0" name="Google Shape;34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719387"/>
            <a:ext cx="5348287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15"/>
          <p:cNvSpPr txBox="1"/>
          <p:nvPr/>
        </p:nvSpPr>
        <p:spPr>
          <a:xfrm>
            <a:off x="971550" y="3109912"/>
            <a:ext cx="4567237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7500" u="none" cap="none" strike="noStrike">
                <a:solidFill>
                  <a:srgbClr val="00D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3-4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5"/>
          <p:cNvSpPr txBox="1"/>
          <p:nvPr/>
        </p:nvSpPr>
        <p:spPr>
          <a:xfrm>
            <a:off x="971550" y="4205287"/>
            <a:ext cx="4567237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8FAFC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Meses para el ROI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5"/>
          <p:cNvSpPr txBox="1"/>
          <p:nvPr/>
        </p:nvSpPr>
        <p:spPr>
          <a:xfrm>
            <a:off x="6262687" y="2829222"/>
            <a:ext cx="561570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Rentabilidad Inmediata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5"/>
          <p:cNvSpPr txBox="1"/>
          <p:nvPr/>
        </p:nvSpPr>
        <p:spPr>
          <a:xfrm>
            <a:off x="6262687" y="3314997"/>
            <a:ext cx="5348287" cy="7768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 una inversión inicial acotada de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$3.200.000 CLP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el sistema recupera más de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$1.100.000 CLP mensuales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en ventas anteriormente perdidas por falta de stock.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5"/>
          <p:cNvSpPr txBox="1"/>
          <p:nvPr/>
        </p:nvSpPr>
        <p:spPr>
          <a:xfrm>
            <a:off x="6262687" y="4234755"/>
            <a:ext cx="5348287" cy="517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Además, libera </a:t>
            </a:r>
            <a:r>
              <a:rPr b="1" i="0" lang="en-US" sz="1275" u="none" cap="none" strike="noStrike">
                <a:solidFill>
                  <a:srgbClr val="00D2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$3.500.000 CLP</a:t>
            </a:r>
            <a:r>
              <a:rPr b="0" i="0" lang="en-US" sz="1275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capital de trabajo inmovilizado en compras ineficientes durante los primeros 6 meses.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5"/>
          <p:cNvSpPr txBox="1"/>
          <p:nvPr/>
        </p:nvSpPr>
        <p:spPr>
          <a:xfrm>
            <a:off x="581025" y="485775"/>
            <a:ext cx="11581447" cy="4381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Impacto Financiero Prometido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5"/>
          <p:cNvSpPr/>
          <p:nvPr/>
        </p:nvSpPr>
        <p:spPr>
          <a:xfrm>
            <a:off x="581025" y="923925"/>
            <a:ext cx="5715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fa4490e163_0_3"/>
          <p:cNvSpPr txBox="1"/>
          <p:nvPr/>
        </p:nvSpPr>
        <p:spPr>
          <a:xfrm>
            <a:off x="419915" y="1782150"/>
            <a:ext cx="9812400" cy="3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El proyecto </a:t>
            </a:r>
            <a:r>
              <a:rPr b="1" lang="en-US" sz="1500">
                <a:solidFill>
                  <a:schemeClr val="lt1"/>
                </a:solidFill>
              </a:rPr>
              <a:t>Zapatillas Duoc: E-Commerce &amp; Retail Analytics</a:t>
            </a:r>
            <a:r>
              <a:rPr lang="en-US" sz="1500">
                <a:solidFill>
                  <a:schemeClr val="lt1"/>
                </a:solidFill>
              </a:rPr>
              <a:t> demuestra cómo la tecnología puede transformar una problemática real del comercio local en una oportunidad de mejora y crecimiento.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Mediante la integración de un </a:t>
            </a:r>
            <a:r>
              <a:rPr b="1" lang="en-US" sz="1500">
                <a:solidFill>
                  <a:schemeClr val="lt1"/>
                </a:solidFill>
              </a:rPr>
              <a:t>portal E-Commerce, una base de datos PostgreSQL, un motor de analítica predictiva y un dashboard administrativo</a:t>
            </a:r>
            <a:r>
              <a:rPr lang="en-US" sz="1500">
                <a:solidFill>
                  <a:schemeClr val="lt1"/>
                </a:solidFill>
              </a:rPr>
              <a:t>, se propone una solución capaz de centralizar las ventas, mejorar la gestión del inventario y anticipar posibles quiebres de stock.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De esta manera, el sistema no solo busca recuperar ventas que actualmente se pierden por falta de tallas disponibles, sino también optimizar las compras y reducir el capital inmovilizado en productos de baja rotación.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En conclusión, </a:t>
            </a:r>
            <a:r>
              <a:rPr b="1" lang="en-US" sz="1500">
                <a:solidFill>
                  <a:schemeClr val="lt1"/>
                </a:solidFill>
              </a:rPr>
              <a:t>Zapatillas Duoc entrega una solución tecnológica escalable, orientada a la toma de decisiones basada en datos y con un impacto comercial concreto</a:t>
            </a:r>
            <a:r>
              <a:rPr lang="en-US" sz="1500">
                <a:solidFill>
                  <a:schemeClr val="lt1"/>
                </a:solidFill>
              </a:rPr>
              <a:t>, demostrando el valor de la Ingeniería en Informática para resolver necesidades reales de una empresa.</a:t>
            </a:r>
            <a:endParaRPr sz="15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59921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t/>
            </a:r>
            <a:endParaRPr sz="1675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353" name="Google Shape;353;g3fa4490e163_0_3"/>
          <p:cNvSpPr txBox="1"/>
          <p:nvPr/>
        </p:nvSpPr>
        <p:spPr>
          <a:xfrm>
            <a:off x="581025" y="485775"/>
            <a:ext cx="115815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lang="en-US" sz="310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Conclusión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g3fa4490e163_0_3"/>
          <p:cNvSpPr/>
          <p:nvPr/>
        </p:nvSpPr>
        <p:spPr>
          <a:xfrm>
            <a:off x="581025" y="923925"/>
            <a:ext cx="57300" cy="3048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