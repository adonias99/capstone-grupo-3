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Plus Jakarta Sans"/>
      <p:regular r:id="rId24"/>
      <p:bold r:id="rId25"/>
      <p:italic r:id="rId26"/>
      <p:boldItalic r:id="rId27"/>
    </p:embeddedFont>
    <p:embeddedFont>
      <p:font typeface="Plus Jakarta Sans SemiBold"/>
      <p:regular r:id="rId28"/>
      <p:bold r:id="rId29"/>
      <p:italic r:id="rId30"/>
      <p:boldItalic r:id="rId31"/>
    </p:embeddedFont>
    <p:embeddedFont>
      <p:font typeface="Space Grotesk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g4YJgMUr3tzhkRFXkEqB05K0ez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1D90846-4A81-42C4-9B86-B2C53EDB9DAD}">
  <a:tblStyle styleId="{91D90846-4A81-42C4-9B86-B2C53EDB9DA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lusJakartaSans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-italic.fntdata"/><Relationship Id="rId25" Type="http://schemas.openxmlformats.org/officeDocument/2006/relationships/font" Target="fonts/PlusJakartaSans-bold.fntdata"/><Relationship Id="rId28" Type="http://schemas.openxmlformats.org/officeDocument/2006/relationships/font" Target="fonts/PlusJakartaSansSemiBold-regular.fntdata"/><Relationship Id="rId27" Type="http://schemas.openxmlformats.org/officeDocument/2006/relationships/font" Target="fonts/PlusJakarta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usJakartaSans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usJakartaSansSemiBold-boldItalic.fntdata"/><Relationship Id="rId30" Type="http://schemas.openxmlformats.org/officeDocument/2006/relationships/font" Target="fonts/PlusJakartaSansSemiBold-italic.fntdata"/><Relationship Id="rId11" Type="http://schemas.openxmlformats.org/officeDocument/2006/relationships/slide" Target="slides/slide5.xml"/><Relationship Id="rId33" Type="http://schemas.openxmlformats.org/officeDocument/2006/relationships/font" Target="fonts/SpaceGrotesk-bold.fntdata"/><Relationship Id="rId10" Type="http://schemas.openxmlformats.org/officeDocument/2006/relationships/slide" Target="slides/slide4.xml"/><Relationship Id="rId32" Type="http://schemas.openxmlformats.org/officeDocument/2006/relationships/font" Target="fonts/SpaceGrotesk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a48b68155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g3fa48b68155_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a4490e16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0" name="Google Shape;350;g3fa4490e163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11" Type="http://schemas.openxmlformats.org/officeDocument/2006/relationships/image" Target="../media/image30.png"/><Relationship Id="rId10" Type="http://schemas.openxmlformats.org/officeDocument/2006/relationships/image" Target="../media/image29.png"/><Relationship Id="rId12" Type="http://schemas.openxmlformats.org/officeDocument/2006/relationships/image" Target="../media/image31.png"/><Relationship Id="rId9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3.png"/><Relationship Id="rId5" Type="http://schemas.openxmlformats.org/officeDocument/2006/relationships/image" Target="../media/image32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5.png"/><Relationship Id="rId11" Type="http://schemas.openxmlformats.org/officeDocument/2006/relationships/image" Target="../media/image54.png"/><Relationship Id="rId10" Type="http://schemas.openxmlformats.org/officeDocument/2006/relationships/image" Target="../media/image51.png"/><Relationship Id="rId12" Type="http://schemas.openxmlformats.org/officeDocument/2006/relationships/image" Target="../media/image52.png"/><Relationship Id="rId9" Type="http://schemas.openxmlformats.org/officeDocument/2006/relationships/image" Target="../media/image50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3.png"/><Relationship Id="rId4" Type="http://schemas.openxmlformats.org/officeDocument/2006/relationships/image" Target="../media/image5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62.png"/><Relationship Id="rId10" Type="http://schemas.openxmlformats.org/officeDocument/2006/relationships/image" Target="../media/image61.png"/><Relationship Id="rId13" Type="http://schemas.openxmlformats.org/officeDocument/2006/relationships/image" Target="../media/image67.png"/><Relationship Id="rId1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59.png"/><Relationship Id="rId9" Type="http://schemas.openxmlformats.org/officeDocument/2006/relationships/image" Target="../media/image27.png"/><Relationship Id="rId15" Type="http://schemas.openxmlformats.org/officeDocument/2006/relationships/image" Target="../media/image65.png"/><Relationship Id="rId14" Type="http://schemas.openxmlformats.org/officeDocument/2006/relationships/image" Target="../media/image66.png"/><Relationship Id="rId5" Type="http://schemas.openxmlformats.org/officeDocument/2006/relationships/image" Target="../media/image58.png"/><Relationship Id="rId6" Type="http://schemas.openxmlformats.org/officeDocument/2006/relationships/image" Target="../media/image60.png"/><Relationship Id="rId7" Type="http://schemas.openxmlformats.org/officeDocument/2006/relationships/image" Target="../media/image63.png"/><Relationship Id="rId8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6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43375" y="494701"/>
            <a:ext cx="3771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38400" y="4778573"/>
            <a:ext cx="73152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859455" y="1234326"/>
            <a:ext cx="84732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Zapatillas Duoc: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E-Commerce &amp; Retail 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286000" y="3727251"/>
            <a:ext cx="7620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Sistema Web de Retail a medida con Portal E-Commerce y Módulo de Analítica Predictiva de Inventario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438400" y="4978598"/>
            <a:ext cx="1905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Ingeniería en Informática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4629150" y="4978598"/>
            <a:ext cx="32861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Escuela de Informática y Telecomunicaciones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8201025" y="4978598"/>
            <a:ext cx="1552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Sede Puente Alto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92" name="Google Shape;9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38400" y="5007173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29150" y="5007173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01025" y="5007173"/>
            <a:ext cx="1047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14575"/>
            <a:ext cx="5348287" cy="29526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2687" y="2314575"/>
            <a:ext cx="5348287" cy="29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923925" y="2657475"/>
            <a:ext cx="489561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12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D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Equipo de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6605587" y="2657475"/>
            <a:ext cx="489561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41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D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Información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6605587" y="3095625"/>
            <a:ext cx="4662487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Carrera: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Ingeniería en Informática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6605587" y="3497460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Caso de Estudio: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Zapatillas Duoc (Comercio Local de Calzado)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6605587" y="4158257"/>
            <a:ext cx="46626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Sede: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75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Puente Alto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605587" y="4560093"/>
            <a:ext cx="4662487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Año de Ejecución: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8" name="Google Shape;10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" y="2686050"/>
            <a:ext cx="28128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923925" y="3095625"/>
            <a:ext cx="466248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Bastián Quilodrán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923925" y="3484215"/>
            <a:ext cx="466248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Israel González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923925" y="3872805"/>
            <a:ext cx="466248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Horacio Vergara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923925" y="4261395"/>
            <a:ext cx="466248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Josías González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923925" y="4649985"/>
            <a:ext cx="466248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Luis Alcaide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4" name="Google Shape;114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5587" y="2686050"/>
            <a:ext cx="22413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3925" y="3148012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3925" y="3536602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3925" y="3925192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3925" y="4313783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3925" y="4702373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Integrantes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17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2687" y="1981200"/>
            <a:ext cx="5348287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 txBox="1"/>
          <p:nvPr/>
        </p:nvSpPr>
        <p:spPr>
          <a:xfrm>
            <a:off x="581025" y="1621200"/>
            <a:ext cx="5348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Sistema Web y </a:t>
            </a:r>
            <a:r>
              <a:rPr lang="en-US" sz="15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Móvil</a:t>
            </a:r>
            <a:r>
              <a:rPr b="0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Retail desarrollado a medida para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Zapatillas Duoc</a:t>
            </a:r>
            <a:r>
              <a:rPr b="0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integrando </a:t>
            </a:r>
            <a:r>
              <a:rPr lang="en-US" sz="15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dos</a:t>
            </a:r>
            <a:r>
              <a:rPr b="0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componentes estratégicos: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9" name="Google Shape;12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2212" y="1990725"/>
            <a:ext cx="5329237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"/>
          <p:cNvSpPr txBox="1"/>
          <p:nvPr/>
        </p:nvSpPr>
        <p:spPr>
          <a:xfrm>
            <a:off x="1009650" y="2781300"/>
            <a:ext cx="4919662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Portal E-Commerce: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Venta directa para clientes con captura transaccional en PostgreSQL en tiempo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1009650" y="3520380"/>
            <a:ext cx="4919662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Motor de Analítica Predictiva: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Algoritmos de Machine Learning para predecir demanda de tallas críticas.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1009650" y="4259460"/>
            <a:ext cx="49197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Dashboard HQ Admin</a:t>
            </a: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Notificaciones automáticas previas al quiebre de stock en modelos top ventas</a:t>
            </a:r>
            <a:r>
              <a:rPr lang="en-US" sz="135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 </a:t>
            </a:r>
            <a:r>
              <a:rPr lang="en-US" sz="135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métricas</a:t>
            </a:r>
            <a:r>
              <a:rPr lang="en-US" sz="135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claves de ventas.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3" name="Google Shape;13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80511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54419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283273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Descripción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/>
          <p:cNvSpPr txBox="1"/>
          <p:nvPr/>
        </p:nvSpPr>
        <p:spPr>
          <a:xfrm>
            <a:off x="581025" y="485775"/>
            <a:ext cx="5590698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Problemática 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581025" y="2550914"/>
            <a:ext cx="53244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Ventas Perdidas por Quiebre de Stock: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Pérdida estimada de </a:t>
            </a:r>
            <a:r>
              <a:rPr b="1" i="0" lang="en-US" sz="1350" u="none" cap="none" strike="noStrike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~$1.800.000 CLP/mes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 no contar con tallas populares (9, 10 y 11 US).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581025" y="3516659"/>
            <a:ext cx="53244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Falta de Registro Centralizado: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Gestión manual de inventario sin e-commerce transaccional en tiempo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581025" y="4482405"/>
            <a:ext cx="5324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Capital de Trabajo Atrapado: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Dinero inmovilizado en bodegas con pares de baja rotación.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5813" y="360625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27238" y="4578500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5988" y="2505075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4138" y="4578500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27238" y="2505075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27238" y="360625"/>
            <a:ext cx="2466975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52960"/>
            <a:ext cx="3517850" cy="30759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7000" y="2252960"/>
            <a:ext cx="3517850" cy="30759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2975" y="2252960"/>
            <a:ext cx="3517850" cy="30759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548235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 txBox="1"/>
          <p:nvPr/>
        </p:nvSpPr>
        <p:spPr>
          <a:xfrm>
            <a:off x="876300" y="3357860"/>
            <a:ext cx="30736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Portal 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876300" y="3738860"/>
            <a:ext cx="2927300" cy="129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Tienda online interactiva con catálogo, filtro por tallas y carrito de compras para capturar ventas directas y registrar transacciones en BD.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5" name="Google Shape;165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2275" y="2548235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/>
          <p:cNvSpPr txBox="1"/>
          <p:nvPr/>
        </p:nvSpPr>
        <p:spPr>
          <a:xfrm>
            <a:off x="4632275" y="3357860"/>
            <a:ext cx="30736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Motor Analytics (ML)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4632275" y="3738860"/>
            <a:ext cx="2927300" cy="1035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Procesa el historial de compras en PostgreSQL para proyectar qué tallas específicas se venderán en las próximas semanas.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8" name="Google Shape;168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88250" y="2548235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5"/>
          <p:cNvSpPr txBox="1"/>
          <p:nvPr/>
        </p:nvSpPr>
        <p:spPr>
          <a:xfrm>
            <a:off x="8388250" y="3357860"/>
            <a:ext cx="30736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Dashboard HQ Admin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8388250" y="3738860"/>
            <a:ext cx="2927300" cy="1035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Panel de administración con alertas de bajo stock, métricas clave de ventas y sugerencias automáticas de reposición.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1" name="Google Shape;171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1075" y="2676822"/>
            <a:ext cx="40957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60862" y="2676822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93025" y="2676822"/>
            <a:ext cx="4095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5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Propuesta de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23504"/>
            <a:ext cx="5348287" cy="29348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2687" y="2323504"/>
            <a:ext cx="5348287" cy="293489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 txBox="1"/>
          <p:nvPr/>
        </p:nvSpPr>
        <p:spPr>
          <a:xfrm>
            <a:off x="923925" y="2694979"/>
            <a:ext cx="489561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41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Space Grotesk"/>
                <a:ea typeface="Space Grotesk"/>
                <a:cs typeface="Space Grotesk"/>
                <a:sym typeface="Space Grotesk"/>
              </a:rPr>
              <a:t>Sin Software (Operación Actual)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6605587" y="2694979"/>
            <a:ext cx="489561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41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D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 Software (Inversión $3.2M)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5" name="Google Shape;18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" y="2723554"/>
            <a:ext cx="22413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6"/>
          <p:cNvSpPr txBox="1"/>
          <p:nvPr/>
        </p:nvSpPr>
        <p:spPr>
          <a:xfrm>
            <a:off x="923925" y="3133129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Pérdida por quiebres: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~$1.800.000 CLP/mes en clientes que no hallan su talla.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923925" y="3765351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Inventario inmovilizado: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$15.000.000 CLP estancados en stock de baja rotación.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923925" y="4397573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Margen reducido: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Ventas forzadas con liquidaciones agresivas de hasta 35% de descuento.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9" name="Google Shape;18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5587" y="2723554"/>
            <a:ext cx="22413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 txBox="1"/>
          <p:nvPr/>
        </p:nvSpPr>
        <p:spPr>
          <a:xfrm>
            <a:off x="6605587" y="3133129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Recuperación de ventas: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Captura de </a:t>
            </a:r>
            <a:r>
              <a:rPr b="1" i="0" lang="en-US" sz="1275" u="none" cap="none" strike="noStrike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+$1.100.000 CLP/mes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 evitar quiebres.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6605587" y="3765351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Capital liberado: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Optimización de $3.500.000 CLP en compras eficientes.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6605587" y="4397573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Retorno de Inversión (ROI):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Recuperación total de la inversión en solo </a:t>
            </a:r>
            <a:r>
              <a:rPr b="1" i="0" lang="en-US" sz="1275" u="none" cap="none" strike="noStrike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 a 4 meses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Propuesta de Valor Comercial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7"/>
          <p:cNvSpPr txBox="1"/>
          <p:nvPr/>
        </p:nvSpPr>
        <p:spPr>
          <a:xfrm>
            <a:off x="4507989" y="2697509"/>
            <a:ext cx="3176021" cy="5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Objetivo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1571625" y="3455640"/>
            <a:ext cx="90487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Desarrollar una plataforma web integral que combine la </a:t>
            </a:r>
            <a:r>
              <a:rPr b="1" i="0" lang="en-US" sz="1800" u="none" cap="none" strike="noStrike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venta E-Commerce</a:t>
            </a:r>
            <a:r>
              <a:rPr b="0" i="0" lang="en-US" sz="18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 el </a:t>
            </a:r>
            <a:r>
              <a:rPr b="1" i="0" lang="en-US" sz="1800" u="none" cap="none" strike="noStrike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análisis predictivo de inventario</a:t>
            </a:r>
            <a:r>
              <a:rPr b="0" i="0" lang="en-US" sz="18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reduciendo los quiebres de stock en tallas clave y rentabilizando la operación de Zapatillas Duoc con una inversión acotada.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"/>
          <p:cNvSpPr txBox="1"/>
          <p:nvPr/>
        </p:nvSpPr>
        <p:spPr>
          <a:xfrm>
            <a:off x="1009650" y="2861369"/>
            <a:ext cx="10601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Construir el Portal E-Commerce: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Tienda web con catálogo interactivo y registro transaccional automatizado.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 txBox="1"/>
          <p:nvPr/>
        </p:nvSpPr>
        <p:spPr>
          <a:xfrm>
            <a:off x="1009650" y="3326159"/>
            <a:ext cx="10601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Diseñar la BD Relacional: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Base de datos PostgreSQL para consolidar usuarios, compras e inventario por talla.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1009650" y="3790950"/>
            <a:ext cx="10601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Implementar Motor Predictivo: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Algoritmo en Python para proyectar necesidades de reposición según patrones de venta.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1009650" y="4255740"/>
            <a:ext cx="10601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Desplegar Dashboard HQ: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Panel de control administrativo para visualización de métricas, stock crítico y alertas preventivas.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1" name="Google Shape;21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8518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34997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8147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279552"/>
            <a:ext cx="238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8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Objetivos Específicos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07393"/>
            <a:ext cx="5348287" cy="3567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2687" y="2007393"/>
            <a:ext cx="5348287" cy="356711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 txBox="1"/>
          <p:nvPr/>
        </p:nvSpPr>
        <p:spPr>
          <a:xfrm>
            <a:off x="923925" y="2378868"/>
            <a:ext cx="489561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555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Space Grotesk"/>
                <a:ea typeface="Space Grotesk"/>
                <a:cs typeface="Space Grotesk"/>
                <a:sym typeface="Space Grotesk"/>
              </a:rPr>
              <a:t>Qué SÍ hace 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 txBox="1"/>
          <p:nvPr/>
        </p:nvSpPr>
        <p:spPr>
          <a:xfrm>
            <a:off x="6605587" y="2378868"/>
            <a:ext cx="489561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69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Space Grotesk"/>
                <a:ea typeface="Space Grotesk"/>
                <a:cs typeface="Space Grotesk"/>
                <a:sym typeface="Space Grotesk"/>
              </a:rPr>
              <a:t>Qué NO hace 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6" name="Google Shape;22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" y="2407443"/>
            <a:ext cx="19556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9"/>
          <p:cNvSpPr txBox="1"/>
          <p:nvPr/>
        </p:nvSpPr>
        <p:spPr>
          <a:xfrm>
            <a:off x="923925" y="2817018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Catálogo y Compras: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Selección de tallas, carrito y registro en BD.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923925" y="3449240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Gestión BD: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Almacena ventas e inventario actualizado en tiempo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923925" y="4081462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Predicción: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Alertas preventivas antes de agotar tallas demandadas.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923925" y="4713684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Dashboard: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Indicadores clave (KPIs) para la toma de decisiones.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1" name="Google Shape;231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5587" y="2407443"/>
            <a:ext cx="16698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9"/>
          <p:cNvSpPr txBox="1"/>
          <p:nvPr/>
        </p:nvSpPr>
        <p:spPr>
          <a:xfrm>
            <a:off x="6605587" y="2817018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gestiona el transporte físico o logística de despacho a domicilio.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 txBox="1"/>
          <p:nvPr/>
        </p:nvSpPr>
        <p:spPr>
          <a:xfrm>
            <a:off x="6605587" y="3449240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realiza facturación electrónica con SII (emite comprobantes web).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6605587" y="4081462"/>
            <a:ext cx="4662487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procesa pagos multimoneda internacionales.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Alcances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82440"/>
            <a:ext cx="3517850" cy="28170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7000" y="2382440"/>
            <a:ext cx="3517850" cy="28170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2975" y="2382440"/>
            <a:ext cx="3517850" cy="28170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677715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0"/>
          <p:cNvSpPr txBox="1"/>
          <p:nvPr/>
        </p:nvSpPr>
        <p:spPr>
          <a:xfrm>
            <a:off x="876300" y="3487340"/>
            <a:ext cx="30736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Cliente Comprador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 txBox="1"/>
          <p:nvPr/>
        </p:nvSpPr>
        <p:spPr>
          <a:xfrm>
            <a:off x="876300" y="3868340"/>
            <a:ext cx="2927300" cy="1035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Navega por la tienda web, realiza compras de calzado, filtra por modelo/talla y consulta el estado de sus pedidos en línea.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8" name="Google Shape;248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2275" y="2677715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0"/>
          <p:cNvSpPr txBox="1"/>
          <p:nvPr/>
        </p:nvSpPr>
        <p:spPr>
          <a:xfrm>
            <a:off x="4632275" y="3487340"/>
            <a:ext cx="30736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Administrador HQ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4632275" y="3868340"/>
            <a:ext cx="2927300" cy="1035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Gestiona el catálogo, revisa ventas totales, analiza proyecciones de demanda y confirma órdenes de reabastecimiento.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1" name="Google Shape;251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88250" y="2677715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0"/>
          <p:cNvSpPr txBox="1"/>
          <p:nvPr/>
        </p:nvSpPr>
        <p:spPr>
          <a:xfrm>
            <a:off x="8388250" y="3487340"/>
            <a:ext cx="30736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Operador Bodega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8388250" y="3868340"/>
            <a:ext cx="2927300" cy="1035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Consulta alertas puntuales de stock crítico para reorganizar el inventario físico en la tienda y recepcionar pedidos.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4" name="Google Shape;254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28700" y="2806303"/>
            <a:ext cx="3143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13237" y="2806303"/>
            <a:ext cx="4572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69213" y="2806303"/>
            <a:ext cx="4572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0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Usuarios y Roles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Lista de Requerimientos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00" y="993200"/>
            <a:ext cx="7362794" cy="562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9194" y="1076325"/>
            <a:ext cx="4440407" cy="2660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2"/>
          <p:cNvSpPr txBox="1"/>
          <p:nvPr/>
        </p:nvSpPr>
        <p:spPr>
          <a:xfrm>
            <a:off x="581025" y="1981200"/>
            <a:ext cx="561570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D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Interface E-Commerce &amp; Dashboard HQ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2"/>
          <p:cNvSpPr txBox="1"/>
          <p:nvPr/>
        </p:nvSpPr>
        <p:spPr>
          <a:xfrm>
            <a:off x="581025" y="2390775"/>
            <a:ext cx="53482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Portal Cliente: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Navegación fluida con selección de modelo, talla y pago en un clic. Registro inmediato en PostgreSQL.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"/>
          <p:cNvSpPr txBox="1"/>
          <p:nvPr/>
        </p:nvSpPr>
        <p:spPr>
          <a:xfrm>
            <a:off x="581025" y="3051571"/>
            <a:ext cx="53482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Dashboard Predictivo: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Panel de control con alertas visuales (ej. </a:t>
            </a:r>
            <a:r>
              <a:rPr b="0" i="1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"Comprar 12 pares Talla 10 US"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 para prevenir la pérdida de ventas.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Mockups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a48b68155_1_3"/>
          <p:cNvSpPr txBox="1"/>
          <p:nvPr/>
        </p:nvSpPr>
        <p:spPr>
          <a:xfrm>
            <a:off x="581025" y="485775"/>
            <a:ext cx="11581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31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Mockups</a:t>
            </a:r>
            <a:endParaRPr b="1" sz="310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1" sz="310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2" name="Google Shape;282;g3fa48b68155_1_3"/>
          <p:cNvSpPr/>
          <p:nvPr/>
        </p:nvSpPr>
        <p:spPr>
          <a:xfrm>
            <a:off x="581025" y="923925"/>
            <a:ext cx="573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3fa48b68155_1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975" y="1228725"/>
            <a:ext cx="4767936" cy="511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g3fa48b68155_1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1936" y="1353575"/>
            <a:ext cx="6096006" cy="511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391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0" name="Google Shape;290;p13"/>
          <p:cNvGraphicFramePr/>
          <p:nvPr/>
        </p:nvGraphicFramePr>
        <p:xfrm>
          <a:off x="581025" y="20615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{91D90846-4A81-42C4-9B86-B2C53EDB9DAD}</a:tableStyleId>
              </a:tblPr>
              <a:tblGrid>
                <a:gridCol w="6495300"/>
                <a:gridCol w="1328875"/>
                <a:gridCol w="3186700"/>
              </a:tblGrid>
              <a:tr h="57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D2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Nombre Fase / Hito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D2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Fechas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D2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Costos Estimados (CLP)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7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Fase 1:</a:t>
                      </a: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E-Commerce Cliente &amp; BD PostgreSQL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Mes 1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$800.000 CLP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7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Fase 2:</a:t>
                      </a: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Engine Analytics &amp; Algoritmo Predictivo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Mes 2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$1.000.000 CLP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7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Fase 3:</a:t>
                      </a: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Dashboard HQ &amp; Vista Operativa Bodega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Mes 3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$900.000 CLP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7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Fase 4:</a:t>
                      </a: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Despliegue Cloud, Pruebas y Puesta en Marcha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Mes 4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$500.000 CLP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764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F8FA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Costo Total del Proyecto: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D2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$3.200.000 CLP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1" name="Google Shape;291;p13"/>
          <p:cNvSpPr/>
          <p:nvPr/>
        </p:nvSpPr>
        <p:spPr>
          <a:xfrm>
            <a:off x="590550" y="2634853"/>
            <a:ext cx="649530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7085855" y="2634853"/>
            <a:ext cx="1328886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8414742" y="2634853"/>
            <a:ext cx="3186707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590550" y="3217664"/>
            <a:ext cx="649530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7085855" y="3217664"/>
            <a:ext cx="132888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8414742" y="3217664"/>
            <a:ext cx="318670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590550" y="3790950"/>
            <a:ext cx="649530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7085855" y="3790950"/>
            <a:ext cx="132888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8414742" y="3790950"/>
            <a:ext cx="318670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590550" y="4364235"/>
            <a:ext cx="649530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7085855" y="4364235"/>
            <a:ext cx="132888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8414742" y="4364235"/>
            <a:ext cx="318670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590550" y="4937521"/>
            <a:ext cx="649530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7085855" y="4937521"/>
            <a:ext cx="132888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8414742" y="4937521"/>
            <a:ext cx="318670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Hitos Importantes y Costos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2" name="Google Shape;31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52960"/>
            <a:ext cx="2578893" cy="30759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8043" y="2252960"/>
            <a:ext cx="2578893" cy="30759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2252960"/>
            <a:ext cx="2578893" cy="30759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32081" y="2252960"/>
            <a:ext cx="2578893" cy="30759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2548235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4"/>
          <p:cNvSpPr txBox="1"/>
          <p:nvPr/>
        </p:nvSpPr>
        <p:spPr>
          <a:xfrm>
            <a:off x="876300" y="3357860"/>
            <a:ext cx="208776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Python 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4"/>
          <p:cNvSpPr txBox="1"/>
          <p:nvPr/>
        </p:nvSpPr>
        <p:spPr>
          <a:xfrm>
            <a:off x="876300" y="3738860"/>
            <a:ext cx="1988343" cy="129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Motor analítico desarrollado en Python para modelos predictivos de series temporales y estimación de demanda.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20" name="Google Shape;32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93318" y="2548235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4"/>
          <p:cNvSpPr txBox="1"/>
          <p:nvPr/>
        </p:nvSpPr>
        <p:spPr>
          <a:xfrm>
            <a:off x="3693318" y="3357860"/>
            <a:ext cx="208776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PostgreSQL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 txBox="1"/>
          <p:nvPr/>
        </p:nvSpPr>
        <p:spPr>
          <a:xfrm>
            <a:off x="3693318" y="3738860"/>
            <a:ext cx="1988343" cy="129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Base de datos relacional robusta e hiper-escalable para consolidar inventarios, clientes y transacciones.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23" name="Google Shape;323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10337" y="2548235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4"/>
          <p:cNvSpPr txBox="1"/>
          <p:nvPr/>
        </p:nvSpPr>
        <p:spPr>
          <a:xfrm>
            <a:off x="6510337" y="3357860"/>
            <a:ext cx="208776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Frontend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6510325" y="3738848"/>
            <a:ext cx="19884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Interface responsiva en React/HTML5 para el Portal E-Commerce y el Dashboard Administrativo.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26" name="Google Shape;326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327356" y="2548235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4"/>
          <p:cNvSpPr txBox="1"/>
          <p:nvPr/>
        </p:nvSpPr>
        <p:spPr>
          <a:xfrm>
            <a:off x="9327356" y="3357860"/>
            <a:ext cx="208776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Cloud Deploy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4"/>
          <p:cNvSpPr txBox="1"/>
          <p:nvPr/>
        </p:nvSpPr>
        <p:spPr>
          <a:xfrm>
            <a:off x="9327356" y="3738860"/>
            <a:ext cx="1988343" cy="1035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Servicios en la nube con altos estándares de seguridad y latencia reducida (&lt; 2 segundos).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29" name="Google Shape;329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28700" y="2676822"/>
            <a:ext cx="3143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845718" y="2676822"/>
            <a:ext cx="3143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638925" y="2676822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408318" y="2676822"/>
            <a:ext cx="4572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4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Stack Tecnológico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9" name="Google Shape;3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19387"/>
            <a:ext cx="5348287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5"/>
          <p:cNvSpPr txBox="1"/>
          <p:nvPr/>
        </p:nvSpPr>
        <p:spPr>
          <a:xfrm>
            <a:off x="971550" y="3109912"/>
            <a:ext cx="4567237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00D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3-4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5"/>
          <p:cNvSpPr txBox="1"/>
          <p:nvPr/>
        </p:nvSpPr>
        <p:spPr>
          <a:xfrm>
            <a:off x="971550" y="4205287"/>
            <a:ext cx="456723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Meses para el ROI Total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5"/>
          <p:cNvSpPr txBox="1"/>
          <p:nvPr/>
        </p:nvSpPr>
        <p:spPr>
          <a:xfrm>
            <a:off x="6262687" y="2829222"/>
            <a:ext cx="561570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Rentabilidad Inmediata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5"/>
          <p:cNvSpPr txBox="1"/>
          <p:nvPr/>
        </p:nvSpPr>
        <p:spPr>
          <a:xfrm>
            <a:off x="6262687" y="3314997"/>
            <a:ext cx="5348287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 una inversión inicial acotada de </a:t>
            </a:r>
            <a:r>
              <a:rPr b="1" i="0" lang="en-US" sz="1275" u="none" cap="none" strike="noStrike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$3.200.000 CLP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el sistema recupera más de </a:t>
            </a:r>
            <a:r>
              <a:rPr b="1" i="0" lang="en-US" sz="1275" u="none" cap="none" strike="noStrike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$1.100.000 CLP mensuales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 ventas anteriormente perdidas por falta de stock.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5"/>
          <p:cNvSpPr txBox="1"/>
          <p:nvPr/>
        </p:nvSpPr>
        <p:spPr>
          <a:xfrm>
            <a:off x="6262687" y="4234755"/>
            <a:ext cx="53482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Además, libera </a:t>
            </a:r>
            <a:r>
              <a:rPr b="1" i="0" lang="en-US" sz="1275" u="none" cap="none" strike="noStrike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$3.500.000 CLP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capital de trabajo inmovilizado en compras ineficientes durante los primeros 6 meses.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5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Impacto Financiero Prometido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a4490e163_0_3"/>
          <p:cNvSpPr txBox="1"/>
          <p:nvPr/>
        </p:nvSpPr>
        <p:spPr>
          <a:xfrm>
            <a:off x="419915" y="1782150"/>
            <a:ext cx="9812400" cy="3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</a:rPr>
              <a:t>El proyecto </a:t>
            </a:r>
            <a:r>
              <a:rPr b="1" lang="en-US" sz="1500">
                <a:solidFill>
                  <a:schemeClr val="lt1"/>
                </a:solidFill>
              </a:rPr>
              <a:t>Zapatillas Duoc: E-Commerce &amp; Retail Analytics</a:t>
            </a:r>
            <a:r>
              <a:rPr lang="en-US" sz="1500">
                <a:solidFill>
                  <a:schemeClr val="lt1"/>
                </a:solidFill>
              </a:rPr>
              <a:t> demuestra cómo la tecnología puede transformar una problemática real del comercio local en una oportunidad de mejora y crecimiento.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</a:rPr>
              <a:t>Mediante la integración de un </a:t>
            </a:r>
            <a:r>
              <a:rPr b="1" lang="en-US" sz="1500">
                <a:solidFill>
                  <a:schemeClr val="lt1"/>
                </a:solidFill>
              </a:rPr>
              <a:t>portal E-Commerce, una base de datos PostgreSQL, un motor de analítica predictiva y un dashboard administrativo</a:t>
            </a:r>
            <a:r>
              <a:rPr lang="en-US" sz="1500">
                <a:solidFill>
                  <a:schemeClr val="lt1"/>
                </a:solidFill>
              </a:rPr>
              <a:t>, se propone una solución capaz de centralizar las ventas, mejorar la gestión del inventario y anticipar posibles quiebres de stock.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</a:rPr>
              <a:t>De esta manera, el sistema no solo busca recuperar ventas que actualmente se pierden por falta de tallas disponibles, sino también optimizar las compras y reducir el capital inmovilizado en productos de baja rotación.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</a:rPr>
              <a:t>En conclusión, </a:t>
            </a:r>
            <a:r>
              <a:rPr b="1" lang="en-US" sz="1500">
                <a:solidFill>
                  <a:schemeClr val="lt1"/>
                </a:solidFill>
              </a:rPr>
              <a:t>Zapatillas Duoc entrega una solución tecnológica escalable, orientada a la toma de decisiones basada en datos y con un impacto comercial concreto</a:t>
            </a:r>
            <a:r>
              <a:rPr lang="en-US" sz="1500">
                <a:solidFill>
                  <a:schemeClr val="lt1"/>
                </a:solidFill>
              </a:rPr>
              <a:t>, demostrando el valor de la Ingeniería en Informática para resolver necesidades reales de una empresa.</a:t>
            </a:r>
            <a:endParaRPr sz="15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59921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t/>
            </a:r>
            <a:endParaRPr sz="1675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3" name="Google Shape;353;g3fa4490e163_0_3"/>
          <p:cNvSpPr txBox="1"/>
          <p:nvPr/>
        </p:nvSpPr>
        <p:spPr>
          <a:xfrm>
            <a:off x="581025" y="485775"/>
            <a:ext cx="115815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31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Conclusión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3fa4490e163_0_3"/>
          <p:cNvSpPr/>
          <p:nvPr/>
        </p:nvSpPr>
        <p:spPr>
          <a:xfrm>
            <a:off x="581025" y="923925"/>
            <a:ext cx="573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