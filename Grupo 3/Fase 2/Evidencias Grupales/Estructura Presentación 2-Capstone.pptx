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y="6858000" cx="12192000"/>
  <p:notesSz cx="6858000" cy="9144000"/>
  <p:embeddedFontLst>
    <p:embeddedFont>
      <p:font typeface="Montserrat"/>
      <p:regular r:id="rId23"/>
      <p:bold r:id="rId24"/>
      <p:italic r:id="rId25"/>
      <p:boldItalic r:id="rId26"/>
    </p:embeddedFont>
    <p:embeddedFont>
      <p:font typeface="Lato"/>
      <p:regular r:id="rId27"/>
      <p:bold r:id="rId28"/>
      <p:italic r:id="rId29"/>
      <p:boldItalic r:id="rId30"/>
    </p:embeddedFont>
    <p:embeddedFont>
      <p:font typeface="Plus Jakarta Sans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5" roundtripDataSignature="AMtx7mgDfZXDOCL04LpyjiJ71wMEWcVV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D737898-0A15-42CA-868B-B98E83FEC08A}">
  <a:tblStyle styleId="{BD737898-0A15-42CA-868B-B98E83FEC08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Montserrat-bold.fntdata"/><Relationship Id="rId23" Type="http://schemas.openxmlformats.org/officeDocument/2006/relationships/font" Target="fonts/Montserrat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ontserrat-boldItalic.fntdata"/><Relationship Id="rId25" Type="http://schemas.openxmlformats.org/officeDocument/2006/relationships/font" Target="fonts/Montserrat-italic.fntdata"/><Relationship Id="rId28" Type="http://schemas.openxmlformats.org/officeDocument/2006/relationships/font" Target="fonts/Lato-bold.fntdata"/><Relationship Id="rId27" Type="http://schemas.openxmlformats.org/officeDocument/2006/relationships/font" Target="fonts/Lato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Lato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PlusJakartaSans-regular.fntdata"/><Relationship Id="rId30" Type="http://schemas.openxmlformats.org/officeDocument/2006/relationships/font" Target="fonts/Lato-boldItalic.fntdata"/><Relationship Id="rId11" Type="http://schemas.openxmlformats.org/officeDocument/2006/relationships/slide" Target="slides/slide6.xml"/><Relationship Id="rId33" Type="http://schemas.openxmlformats.org/officeDocument/2006/relationships/font" Target="fonts/PlusJakartaSans-italic.fntdata"/><Relationship Id="rId10" Type="http://schemas.openxmlformats.org/officeDocument/2006/relationships/slide" Target="slides/slide5.xml"/><Relationship Id="rId32" Type="http://schemas.openxmlformats.org/officeDocument/2006/relationships/font" Target="fonts/PlusJakartaSans-bold.fntdata"/><Relationship Id="rId13" Type="http://schemas.openxmlformats.org/officeDocument/2006/relationships/slide" Target="slides/slide8.xml"/><Relationship Id="rId35" Type="http://customschemas.google.com/relationships/presentationmetadata" Target="metadata"/><Relationship Id="rId12" Type="http://schemas.openxmlformats.org/officeDocument/2006/relationships/slide" Target="slides/slide7.xml"/><Relationship Id="rId34" Type="http://schemas.openxmlformats.org/officeDocument/2006/relationships/font" Target="fonts/PlusJakartaSans-boldItalic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h41100a3a81f78b8a_2_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h41100a3a81f78b8a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h58efd7b550deba3d_5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h58efd7b550deba3d_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h41100a3a81f78b8a_1_116"/>
          <p:cNvSpPr/>
          <p:nvPr/>
        </p:nvSpPr>
        <p:spPr>
          <a:xfrm rot="5400000">
            <a:off x="10000500" y="673"/>
            <a:ext cx="2191500" cy="21915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h41100a3a81f78b8a_1_116"/>
          <p:cNvGrpSpPr/>
          <p:nvPr/>
        </p:nvGrpSpPr>
        <p:grpSpPr>
          <a:xfrm>
            <a:off x="0" y="654"/>
            <a:ext cx="6871435" cy="6845694"/>
            <a:chOff x="0" y="75"/>
            <a:chExt cx="5153705" cy="5152950"/>
          </a:xfrm>
        </p:grpSpPr>
        <p:sp>
          <p:nvSpPr>
            <p:cNvPr id="12" name="Google Shape;12;h41100a3a81f78b8a_1_116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h41100a3a81f78b8a_1_116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h41100a3a81f78b8a_1_116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h41100a3a81f78b8a_1_116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h41100a3a81f78b8a_1_116"/>
          <p:cNvSpPr txBox="1"/>
          <p:nvPr>
            <p:ph type="ctrTitle"/>
          </p:nvPr>
        </p:nvSpPr>
        <p:spPr>
          <a:xfrm>
            <a:off x="4716200" y="2104533"/>
            <a:ext cx="6690000" cy="21051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1pPr>
            <a:lvl2pPr lvl="1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/>
        </p:txBody>
      </p:sp>
      <p:sp>
        <p:nvSpPr>
          <p:cNvPr id="17" name="Google Shape;17;h41100a3a81f78b8a_1_116"/>
          <p:cNvSpPr txBox="1"/>
          <p:nvPr>
            <p:ph idx="1" type="subTitle"/>
          </p:nvPr>
        </p:nvSpPr>
        <p:spPr>
          <a:xfrm>
            <a:off x="6778600" y="5233233"/>
            <a:ext cx="4627500" cy="67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18" name="Google Shape;18;h41100a3a81f78b8a_1_11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h41100a3a81f78b8a_1_126"/>
          <p:cNvGrpSpPr/>
          <p:nvPr/>
        </p:nvGrpSpPr>
        <p:grpSpPr>
          <a:xfrm>
            <a:off x="5875053" y="0"/>
            <a:ext cx="6316642" cy="6857248"/>
            <a:chOff x="4406400" y="0"/>
            <a:chExt cx="4737600" cy="5143065"/>
          </a:xfrm>
        </p:grpSpPr>
        <p:sp>
          <p:nvSpPr>
            <p:cNvPr id="21" name="Google Shape;21;h41100a3a81f78b8a_1_126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h41100a3a81f78b8a_1_126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h41100a3a81f78b8a_1_126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h41100a3a81f78b8a_1_126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h41100a3a81f78b8a_1_126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h41100a3a81f78b8a_1_126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h41100a3a81f78b8a_1_126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h41100a3a81f78b8a_1_126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h41100a3a81f78b8a_1_126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h41100a3a81f78b8a_1_126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h41100a3a81f78b8a_1_126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h41100a3a81f78b8a_1_126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h41100a3a81f78b8a_1_126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h41100a3a81f78b8a_1_126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h41100a3a81f78b8a_1_126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h41100a3a81f78b8a_1_126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h41100a3a81f78b8a_1_126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h41100a3a81f78b8a_1_126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h41100a3a81f78b8a_1_126"/>
          <p:cNvSpPr txBox="1"/>
          <p:nvPr>
            <p:ph type="title"/>
          </p:nvPr>
        </p:nvSpPr>
        <p:spPr>
          <a:xfrm>
            <a:off x="1098467" y="2737333"/>
            <a:ext cx="6116100" cy="15315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40" name="Google Shape;40;h41100a3a81f78b8a_1_12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h41100a3a81f78b8a_1_148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43" name="Google Shape;43;h41100a3a81f78b8a_1_148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h41100a3a81f78b8a_1_148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h41100a3a81f78b8a_1_148"/>
          <p:cNvSpPr txBox="1"/>
          <p:nvPr>
            <p:ph type="title"/>
          </p:nvPr>
        </p:nvSpPr>
        <p:spPr>
          <a:xfrm>
            <a:off x="1730000" y="525000"/>
            <a:ext cx="9385200" cy="1218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46" name="Google Shape;46;h41100a3a81f78b8a_1_148"/>
          <p:cNvSpPr txBox="1"/>
          <p:nvPr>
            <p:ph idx="1" type="body"/>
          </p:nvPr>
        </p:nvSpPr>
        <p:spPr>
          <a:xfrm>
            <a:off x="1730000" y="2090067"/>
            <a:ext cx="9385200" cy="3881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47" name="Google Shape;47;h41100a3a81f78b8a_1_14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h41100a3a81f78b8a_1_155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50" name="Google Shape;50;h41100a3a81f78b8a_1_15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h41100a3a81f78b8a_1_15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h41100a3a81f78b8a_1_155"/>
          <p:cNvSpPr txBox="1"/>
          <p:nvPr>
            <p:ph type="title"/>
          </p:nvPr>
        </p:nvSpPr>
        <p:spPr>
          <a:xfrm>
            <a:off x="1730000" y="525000"/>
            <a:ext cx="9385200" cy="1218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53" name="Google Shape;53;h41100a3a81f78b8a_1_155"/>
          <p:cNvSpPr txBox="1"/>
          <p:nvPr>
            <p:ph idx="1" type="body"/>
          </p:nvPr>
        </p:nvSpPr>
        <p:spPr>
          <a:xfrm>
            <a:off x="1730000" y="2090067"/>
            <a:ext cx="4537500" cy="3881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54" name="Google Shape;54;h41100a3a81f78b8a_1_155"/>
          <p:cNvSpPr txBox="1"/>
          <p:nvPr>
            <p:ph idx="2" type="body"/>
          </p:nvPr>
        </p:nvSpPr>
        <p:spPr>
          <a:xfrm>
            <a:off x="6577628" y="2090067"/>
            <a:ext cx="4537500" cy="3881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55" name="Google Shape;55;h41100a3a81f78b8a_1_15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h41100a3a81f78b8a_1_163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58" name="Google Shape;58;h41100a3a81f78b8a_1_163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h41100a3a81f78b8a_1_163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h41100a3a81f78b8a_1_163"/>
          <p:cNvSpPr txBox="1"/>
          <p:nvPr>
            <p:ph type="title"/>
          </p:nvPr>
        </p:nvSpPr>
        <p:spPr>
          <a:xfrm>
            <a:off x="1730000" y="525000"/>
            <a:ext cx="9385200" cy="1218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61" name="Google Shape;61;h41100a3a81f78b8a_1_16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h41100a3a81f78b8a_1_169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64" name="Google Shape;64;h41100a3a81f78b8a_1_16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h41100a3a81f78b8a_1_16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h41100a3a81f78b8a_1_169"/>
          <p:cNvSpPr txBox="1"/>
          <p:nvPr>
            <p:ph type="title"/>
          </p:nvPr>
        </p:nvSpPr>
        <p:spPr>
          <a:xfrm>
            <a:off x="1730000" y="525000"/>
            <a:ext cx="5065200" cy="1990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67" name="Google Shape;67;h41100a3a81f78b8a_1_169"/>
          <p:cNvSpPr txBox="1"/>
          <p:nvPr>
            <p:ph idx="1" type="body"/>
          </p:nvPr>
        </p:nvSpPr>
        <p:spPr>
          <a:xfrm>
            <a:off x="1730000" y="2630067"/>
            <a:ext cx="5065200" cy="32211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68" name="Google Shape;68;h41100a3a81f78b8a_1_16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h41100a3a81f78b8a_1_176"/>
          <p:cNvGrpSpPr/>
          <p:nvPr/>
        </p:nvGrpSpPr>
        <p:grpSpPr>
          <a:xfrm>
            <a:off x="5875053" y="0"/>
            <a:ext cx="6316642" cy="6857829"/>
            <a:chOff x="4406400" y="0"/>
            <a:chExt cx="4737600" cy="5143500"/>
          </a:xfrm>
        </p:grpSpPr>
        <p:sp>
          <p:nvSpPr>
            <p:cNvPr id="71" name="Google Shape;71;h41100a3a81f78b8a_1_176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h41100a3a81f78b8a_1_176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h41100a3a81f78b8a_1_176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h41100a3a81f78b8a_1_176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h41100a3a81f78b8a_1_176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h41100a3a81f78b8a_1_176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h41100a3a81f78b8a_1_176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h41100a3a81f78b8a_1_176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h41100a3a81f78b8a_1_176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h41100a3a81f78b8a_1_176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h41100a3a81f78b8a_1_176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h41100a3a81f78b8a_1_176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h41100a3a81f78b8a_1_176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h41100a3a81f78b8a_1_176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h41100a3a81f78b8a_1_176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h41100a3a81f78b8a_1_176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h41100a3a81f78b8a_1_176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h41100a3a81f78b8a_1_176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h41100a3a81f78b8a_1_176"/>
          <p:cNvSpPr txBox="1"/>
          <p:nvPr>
            <p:ph type="title"/>
          </p:nvPr>
        </p:nvSpPr>
        <p:spPr>
          <a:xfrm>
            <a:off x="1098467" y="1155700"/>
            <a:ext cx="6116100" cy="469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90" name="Google Shape;90;h41100a3a81f78b8a_1_17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h41100a3a81f78b8a_1_198"/>
          <p:cNvGrpSpPr/>
          <p:nvPr/>
        </p:nvGrpSpPr>
        <p:grpSpPr>
          <a:xfrm>
            <a:off x="0" y="507989"/>
            <a:ext cx="1383765" cy="1355016"/>
            <a:chOff x="0" y="381001"/>
            <a:chExt cx="1037850" cy="1016287"/>
          </a:xfrm>
        </p:grpSpPr>
        <p:sp>
          <p:nvSpPr>
            <p:cNvPr id="93" name="Google Shape;93;h41100a3a81f78b8a_1_198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h41100a3a81f78b8a_1_198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h41100a3a81f78b8a_1_198"/>
          <p:cNvSpPr txBox="1"/>
          <p:nvPr>
            <p:ph type="title"/>
          </p:nvPr>
        </p:nvSpPr>
        <p:spPr>
          <a:xfrm>
            <a:off x="1730000" y="2211100"/>
            <a:ext cx="4048500" cy="2335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6" name="Google Shape;96;h41100a3a81f78b8a_1_198"/>
          <p:cNvSpPr txBox="1"/>
          <p:nvPr>
            <p:ph idx="1" type="subTitle"/>
          </p:nvPr>
        </p:nvSpPr>
        <p:spPr>
          <a:xfrm>
            <a:off x="1730000" y="4717333"/>
            <a:ext cx="4048500" cy="67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97" name="Google Shape;97;h41100a3a81f78b8a_1_198"/>
          <p:cNvSpPr txBox="1"/>
          <p:nvPr>
            <p:ph idx="2" type="body"/>
          </p:nvPr>
        </p:nvSpPr>
        <p:spPr>
          <a:xfrm>
            <a:off x="6197600" y="2262133"/>
            <a:ext cx="4902300" cy="3129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98" name="Google Shape;98;h41100a3a81f78b8a_1_19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h41100a3a81f78b8a_1_206"/>
          <p:cNvGrpSpPr/>
          <p:nvPr/>
        </p:nvGrpSpPr>
        <p:grpSpPr>
          <a:xfrm>
            <a:off x="0" y="5504636"/>
            <a:ext cx="931877" cy="912853"/>
            <a:chOff x="0" y="3785672"/>
            <a:chExt cx="698925" cy="684657"/>
          </a:xfrm>
        </p:grpSpPr>
        <p:sp>
          <p:nvSpPr>
            <p:cNvPr id="101" name="Google Shape;101;h41100a3a81f78b8a_1_206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h41100a3a81f78b8a_1_206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h41100a3a81f78b8a_1_206"/>
          <p:cNvSpPr txBox="1"/>
          <p:nvPr>
            <p:ph idx="1" type="body"/>
          </p:nvPr>
        </p:nvSpPr>
        <p:spPr>
          <a:xfrm>
            <a:off x="1083633" y="5740500"/>
            <a:ext cx="9248100" cy="698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1pPr>
          </a:lstStyle>
          <a:p/>
        </p:txBody>
      </p:sp>
      <p:sp>
        <p:nvSpPr>
          <p:cNvPr id="104" name="Google Shape;104;h41100a3a81f78b8a_1_20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h41100a3a81f78b8a_1_212"/>
          <p:cNvGrpSpPr/>
          <p:nvPr/>
        </p:nvGrpSpPr>
        <p:grpSpPr>
          <a:xfrm>
            <a:off x="5875053" y="0"/>
            <a:ext cx="6316642" cy="6857248"/>
            <a:chOff x="4406400" y="0"/>
            <a:chExt cx="4737600" cy="5143065"/>
          </a:xfrm>
        </p:grpSpPr>
        <p:sp>
          <p:nvSpPr>
            <p:cNvPr id="107" name="Google Shape;107;h41100a3a81f78b8a_1_212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h41100a3a81f78b8a_1_212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h41100a3a81f78b8a_1_212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h41100a3a81f78b8a_1_212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h41100a3a81f78b8a_1_212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h41100a3a81f78b8a_1_212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h41100a3a81f78b8a_1_212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h41100a3a81f78b8a_1_212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h41100a3a81f78b8a_1_212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h41100a3a81f78b8a_1_212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h41100a3a81f78b8a_1_212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h41100a3a81f78b8a_1_212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h41100a3a81f78b8a_1_212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h41100a3a81f78b8a_1_212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h41100a3a81f78b8a_1_212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h41100a3a81f78b8a_1_212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h41100a3a81f78b8a_1_212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h41100a3a81f78b8a_1_212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h41100a3a81f78b8a_1_212"/>
          <p:cNvSpPr txBox="1"/>
          <p:nvPr>
            <p:ph hasCustomPrompt="1" type="title"/>
          </p:nvPr>
        </p:nvSpPr>
        <p:spPr>
          <a:xfrm>
            <a:off x="1098467" y="1712900"/>
            <a:ext cx="63681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1pPr>
            <a:lvl2pPr lvl="1" rt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2pPr>
            <a:lvl3pPr lvl="2" rt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3pPr>
            <a:lvl4pPr lvl="3" rt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4pPr>
            <a:lvl5pPr lvl="4" rt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5pPr>
            <a:lvl6pPr lvl="5" rt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6pPr>
            <a:lvl7pPr lvl="6" rt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7pPr>
            <a:lvl8pPr lvl="7" rtl="0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8pPr>
            <a:lvl9pPr lvl="8">
              <a:spcBef>
                <a:spcPts val="0"/>
              </a:spcBef>
              <a:spcAft>
                <a:spcPts val="0"/>
              </a:spcAft>
              <a:buSzPts val="10700"/>
              <a:buNone/>
              <a:defRPr sz="10700"/>
            </a:lvl9pPr>
          </a:lstStyle>
          <a:p>
            <a:r>
              <a:t>xx%</a:t>
            </a:r>
          </a:p>
        </p:txBody>
      </p:sp>
      <p:sp>
        <p:nvSpPr>
          <p:cNvPr id="126" name="Google Shape;126;h41100a3a81f78b8a_1_212"/>
          <p:cNvSpPr txBox="1"/>
          <p:nvPr>
            <p:ph idx="1" type="body"/>
          </p:nvPr>
        </p:nvSpPr>
        <p:spPr>
          <a:xfrm>
            <a:off x="1098467" y="3524166"/>
            <a:ext cx="6368100" cy="16251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23850" lvl="2" marL="13716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3pPr>
            <a:lvl4pPr indent="-323850" lvl="3" marL="18288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4pPr>
            <a:lvl5pPr indent="-323850" lvl="4" marL="22860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5pPr>
            <a:lvl6pPr indent="-323850" lvl="5" marL="2743200" rtl="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6pPr>
            <a:lvl7pPr indent="-323850" lvl="6" marL="3200400" rtl="0"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7pPr>
            <a:lvl8pPr indent="-323850" lvl="7" marL="365760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8pPr>
            <a:lvl9pPr indent="-323850" lvl="8" marL="4114800">
              <a:spcBef>
                <a:spcPts val="0"/>
              </a:spcBef>
              <a:spcAft>
                <a:spcPts val="0"/>
              </a:spcAft>
              <a:buSzPts val="1500"/>
              <a:buChar char="■"/>
              <a:defRPr/>
            </a:lvl9pPr>
          </a:lstStyle>
          <a:p/>
        </p:txBody>
      </p:sp>
      <p:sp>
        <p:nvSpPr>
          <p:cNvPr id="127" name="Google Shape;127;h41100a3a81f78b8a_1_21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41100a3a81f78b8a_1_23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h41100a3a81f78b8a_1_112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Montserrat"/>
              <a:buNone/>
              <a:defRPr sz="3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h41100a3a81f78b8a_1_112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65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Lato"/>
              <a:buChar char="●"/>
              <a:defRPr sz="17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238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○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238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■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238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●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238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○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238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■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238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●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238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○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23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Lato"/>
              <a:buChar char="■"/>
              <a:defRPr sz="15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h41100a3a81f78b8a_1_11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9.png"/><Relationship Id="rId6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5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0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7.png"/><Relationship Id="rId4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3.png"/><Relationship Id="rId4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26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"/>
          <p:cNvSpPr txBox="1"/>
          <p:nvPr>
            <p:ph type="ctrTitle"/>
          </p:nvPr>
        </p:nvSpPr>
        <p:spPr>
          <a:xfrm>
            <a:off x="1884986" y="1378083"/>
            <a:ext cx="9144000" cy="1620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es-CL"/>
              <a:t>Presentación Capstone</a:t>
            </a:r>
            <a:br>
              <a:rPr lang="es-CL"/>
            </a:br>
            <a:r>
              <a:rPr lang="es-CL" sz="3200"/>
              <a:t>“</a:t>
            </a:r>
            <a:r>
              <a:rPr b="1" lang="es-CL" sz="1400">
                <a:latin typeface="Arial"/>
                <a:ea typeface="Arial"/>
                <a:cs typeface="Arial"/>
                <a:sym typeface="Arial"/>
              </a:rPr>
              <a:t>Zapatillas Duoc: E-Commerce &amp; Retail Analytics</a:t>
            </a:r>
            <a:r>
              <a:rPr lang="es-CL" sz="3200"/>
              <a:t>”</a:t>
            </a:r>
            <a:endParaRPr/>
          </a:p>
        </p:txBody>
      </p:sp>
      <p:sp>
        <p:nvSpPr>
          <p:cNvPr id="135" name="Google Shape;135;p1"/>
          <p:cNvSpPr txBox="1"/>
          <p:nvPr>
            <p:ph idx="1" type="subTitle"/>
          </p:nvPr>
        </p:nvSpPr>
        <p:spPr>
          <a:xfrm>
            <a:off x="1584175" y="3573024"/>
            <a:ext cx="9144000" cy="162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lang="es-CL" sz="3200"/>
              <a:t>Ingeniería Informática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/>
              <a:t>Escuela de Informática y Telecomunicaciones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/>
              <a:t>Sede Puente Alto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es-CL" sz="1400"/>
              <a:t>2026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 sz="1400"/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t/>
            </a:r>
            <a:endParaRPr sz="1400"/>
          </a:p>
        </p:txBody>
      </p:sp>
      <p:pic>
        <p:nvPicPr>
          <p:cNvPr id="136" name="Google Shape;136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34675" y="234261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"/>
          <p:cNvSpPr txBox="1"/>
          <p:nvPr/>
        </p:nvSpPr>
        <p:spPr>
          <a:xfrm>
            <a:off x="555827" y="2315666"/>
            <a:ext cx="29937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3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2" name="Google Shape;142;p2"/>
          <p:cNvGrpSpPr/>
          <p:nvPr/>
        </p:nvGrpSpPr>
        <p:grpSpPr>
          <a:xfrm>
            <a:off x="4072526" y="1019584"/>
            <a:ext cx="6781052" cy="4590224"/>
            <a:chOff x="0" y="0"/>
            <a:chExt cx="6781052" cy="4590224"/>
          </a:xfrm>
        </p:grpSpPr>
        <p:sp>
          <p:nvSpPr>
            <p:cNvPr id="143" name="Google Shape;143;p2"/>
            <p:cNvSpPr/>
            <p:nvPr/>
          </p:nvSpPr>
          <p:spPr>
            <a:xfrm>
              <a:off x="0" y="0"/>
              <a:ext cx="6781017" cy="1067494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5D7FC9"/>
                </a:gs>
                <a:gs pos="50000">
                  <a:srgbClr val="3A6EC9"/>
                </a:gs>
                <a:gs pos="100000">
                  <a:srgbClr val="2C5EB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"/>
            <p:cNvSpPr txBox="1"/>
            <p:nvPr/>
          </p:nvSpPr>
          <p:spPr>
            <a:xfrm>
              <a:off x="1462952" y="0"/>
              <a:ext cx="5318100" cy="106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0000" lIns="80000" spcFirstLastPara="1" rIns="80000" wrap="square" tIns="800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CL" sz="2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Luis Alcaide</a:t>
              </a:r>
              <a:endParaRPr b="0" i="0" sz="2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735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lang="es-CL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 / Backend Developer </a:t>
              </a:r>
              <a:endParaRPr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24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106749" y="106749"/>
              <a:ext cx="1356300" cy="854100"/>
            </a:xfrm>
            <a:prstGeom prst="roundRect">
              <a:avLst>
                <a:gd fmla="val 10000" name="adj"/>
              </a:avLst>
            </a:prstGeom>
            <a:solidFill>
              <a:srgbClr val="BCC5E4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0" y="1174243"/>
              <a:ext cx="6781017" cy="1067494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5D7FC9"/>
                </a:gs>
                <a:gs pos="50000">
                  <a:srgbClr val="3A6EC9"/>
                </a:gs>
                <a:gs pos="100000">
                  <a:srgbClr val="2C5EB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"/>
            <p:cNvSpPr txBox="1"/>
            <p:nvPr/>
          </p:nvSpPr>
          <p:spPr>
            <a:xfrm>
              <a:off x="1462952" y="1174243"/>
              <a:ext cx="5318100" cy="106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0000" lIns="80000" spcFirstLastPara="1" rIns="80000" wrap="square" tIns="800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CL" sz="2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Josias Gonzalez</a:t>
              </a:r>
              <a:endParaRPr b="0" i="0" sz="2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735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lang="es-CL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Lead DBA / DevOps Engineer</a:t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24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"/>
            <p:cNvSpPr/>
            <p:nvPr/>
          </p:nvSpPr>
          <p:spPr>
            <a:xfrm>
              <a:off x="106749" y="1280992"/>
              <a:ext cx="1356203" cy="853995"/>
            </a:xfrm>
            <a:prstGeom prst="roundRect">
              <a:avLst>
                <a:gd fmla="val 10000" name="adj"/>
              </a:avLst>
            </a:prstGeom>
            <a:solidFill>
              <a:srgbClr val="BCC5E4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0" y="2348487"/>
              <a:ext cx="6781017" cy="1067494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5D7FC9"/>
                </a:gs>
                <a:gs pos="50000">
                  <a:srgbClr val="3A6EC9"/>
                </a:gs>
                <a:gs pos="100000">
                  <a:srgbClr val="2C5EB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p2"/>
            <p:cNvSpPr txBox="1"/>
            <p:nvPr/>
          </p:nvSpPr>
          <p:spPr>
            <a:xfrm>
              <a:off x="1462952" y="2348487"/>
              <a:ext cx="5318064" cy="10674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0000" lIns="80000" spcFirstLastPara="1" rIns="80000" wrap="square" tIns="800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CL" sz="2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Israel Gonzalez</a:t>
              </a:r>
              <a:endParaRPr/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735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lang="es-CL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Frontend Dev (Dashboard) / QA Lead</a:t>
              </a:r>
              <a:endParaRPr/>
            </a:p>
            <a:p>
              <a:pPr indent="0" lvl="0" marL="914400" marR="0" rtl="0" algn="l">
                <a:lnSpc>
                  <a:spcPct val="90000"/>
                </a:lnSpc>
                <a:spcBef>
                  <a:spcPts val="24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106749" y="2455236"/>
              <a:ext cx="1356203" cy="853995"/>
            </a:xfrm>
            <a:prstGeom prst="roundRect">
              <a:avLst>
                <a:gd fmla="val 10000" name="adj"/>
              </a:avLst>
            </a:prstGeom>
            <a:solidFill>
              <a:srgbClr val="BCC5E4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0" y="3522730"/>
              <a:ext cx="6781017" cy="1067494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5D7FC9"/>
                </a:gs>
                <a:gs pos="50000">
                  <a:srgbClr val="3A6EC9"/>
                </a:gs>
                <a:gs pos="100000">
                  <a:srgbClr val="2C5EB8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"/>
            <p:cNvSpPr txBox="1"/>
            <p:nvPr/>
          </p:nvSpPr>
          <p:spPr>
            <a:xfrm>
              <a:off x="1462952" y="3522730"/>
              <a:ext cx="5318064" cy="1067494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80000" lIns="80000" spcFirstLastPara="1" rIns="80000" wrap="square" tIns="8000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100"/>
                <a:buFont typeface="Calibri"/>
                <a:buNone/>
              </a:pPr>
              <a:r>
                <a:rPr lang="es-CL" sz="21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Bastian Quilodran</a:t>
              </a:r>
              <a:endParaRPr b="0" i="0" sz="2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171450" lvl="1" marL="171450" marR="0" rtl="0" algn="l">
                <a:lnSpc>
                  <a:spcPct val="90000"/>
                </a:lnSpc>
                <a:spcBef>
                  <a:spcPts val="735"/>
                </a:spcBef>
                <a:spcAft>
                  <a:spcPts val="0"/>
                </a:spcAft>
                <a:buClr>
                  <a:schemeClr val="lt1"/>
                </a:buClr>
                <a:buSzPts val="1600"/>
                <a:buFont typeface="Calibri"/>
                <a:buChar char="•"/>
              </a:pPr>
              <a:r>
                <a:rPr lang="es-CL" sz="1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Data Engineer / ML Developer</a:t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914400" marR="0" rtl="0" algn="l">
                <a:lnSpc>
                  <a:spcPct val="90000"/>
                </a:lnSpc>
                <a:spcBef>
                  <a:spcPts val="24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4" name="Google Shape;154;p2"/>
            <p:cNvSpPr/>
            <p:nvPr/>
          </p:nvSpPr>
          <p:spPr>
            <a:xfrm>
              <a:off x="106749" y="3629480"/>
              <a:ext cx="1356203" cy="853995"/>
            </a:xfrm>
            <a:prstGeom prst="roundRect">
              <a:avLst>
                <a:gd fmla="val 10000" name="adj"/>
              </a:avLst>
            </a:prstGeom>
            <a:solidFill>
              <a:srgbClr val="BCC5E4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5" name="Google Shape;155;p2"/>
          <p:cNvSpPr/>
          <p:nvPr/>
        </p:nvSpPr>
        <p:spPr>
          <a:xfrm>
            <a:off x="4072601" y="5728239"/>
            <a:ext cx="6780900" cy="1067400"/>
          </a:xfrm>
          <a:prstGeom prst="roundRect">
            <a:avLst>
              <a:gd fmla="val 10000" name="adj"/>
            </a:avLst>
          </a:prstGeom>
          <a:gradFill>
            <a:gsLst>
              <a:gs pos="0">
                <a:srgbClr val="5D7FC9"/>
              </a:gs>
              <a:gs pos="50000">
                <a:srgbClr val="3A6EC9"/>
              </a:gs>
              <a:gs pos="100000">
                <a:srgbClr val="2C5EB8"/>
              </a:gs>
            </a:gsLst>
            <a:lin ang="5400012" scaled="0"/>
          </a:gradFill>
          <a:ln>
            <a:noFill/>
          </a:ln>
          <a:effectLst>
            <a:outerShdw blurRad="57150" rotWithShape="0" algn="ctr" dir="5400000" dist="19050">
              <a:srgbClr val="000000">
                <a:alpha val="631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2"/>
          <p:cNvSpPr/>
          <p:nvPr/>
        </p:nvSpPr>
        <p:spPr>
          <a:xfrm>
            <a:off x="4155025" y="5834889"/>
            <a:ext cx="1356300" cy="854100"/>
          </a:xfrm>
          <a:prstGeom prst="roundRect">
            <a:avLst>
              <a:gd fmla="val 10000" name="adj"/>
            </a:avLst>
          </a:prstGeom>
          <a:solidFill>
            <a:srgbClr val="BCC5E4"/>
          </a:solidFill>
          <a:ln>
            <a:noFill/>
          </a:ln>
          <a:effectLst>
            <a:outerShdw blurRad="57150" rotWithShape="0" algn="ctr" dir="5400000" dist="19050">
              <a:srgbClr val="000000">
                <a:alpha val="6314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5594353" y="5728239"/>
            <a:ext cx="5318100" cy="1067400"/>
          </a:xfrm>
          <a:prstGeom prst="rect">
            <a:avLst/>
          </a:prstGeom>
          <a:noFill/>
          <a:ln>
            <a:noFill/>
          </a:ln>
        </p:spPr>
        <p:txBody>
          <a:bodyPr anchorCtr="0" anchor="t" bIns="80000" lIns="80000" spcFirstLastPara="1" rIns="80000" wrap="square" tIns="800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Calibri"/>
              <a:buNone/>
            </a:pPr>
            <a:r>
              <a:rPr lang="es-CL" sz="21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Horacio Vergara</a:t>
            </a:r>
            <a:endParaRPr b="0" i="0" sz="21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1" marL="171450" marR="0" rtl="0" algn="l">
              <a:lnSpc>
                <a:spcPct val="90000"/>
              </a:lnSpc>
              <a:spcBef>
                <a:spcPts val="735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alibri"/>
              <a:buChar char="•"/>
            </a:pPr>
            <a:r>
              <a:rPr lang="es-CL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Full Stack Developer / Data Engineer</a:t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914400" marR="0" rtl="0" algn="l">
              <a:lnSpc>
                <a:spcPct val="90000"/>
              </a:lnSpc>
              <a:spcBef>
                <a:spcPts val="24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8" name="Google Shape;158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13525" y="5779650"/>
            <a:ext cx="1439300" cy="97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13525" y="3449050"/>
            <a:ext cx="1439299" cy="972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"/>
          <p:cNvPicPr preferRelativeResize="0"/>
          <p:nvPr/>
        </p:nvPicPr>
        <p:blipFill rotWithShape="1">
          <a:blip r:embed="rId5">
            <a:alphaModFix/>
          </a:blip>
          <a:srcRect b="39284" l="0" r="0" t="0"/>
          <a:stretch/>
        </p:blipFill>
        <p:spPr>
          <a:xfrm>
            <a:off x="4140525" y="2245500"/>
            <a:ext cx="1439300" cy="913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12138" y="117024"/>
            <a:ext cx="3767726" cy="6774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"/>
          <p:cNvSpPr txBox="1"/>
          <p:nvPr>
            <p:ph type="title"/>
          </p:nvPr>
        </p:nvSpPr>
        <p:spPr>
          <a:xfrm>
            <a:off x="3242284" y="1010438"/>
            <a:ext cx="10515600" cy="71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Descripción del Proyecto</a:t>
            </a:r>
            <a:endParaRPr/>
          </a:p>
        </p:txBody>
      </p:sp>
      <p:sp>
        <p:nvSpPr>
          <p:cNvPr id="167" name="Google Shape;167;p3"/>
          <p:cNvSpPr/>
          <p:nvPr/>
        </p:nvSpPr>
        <p:spPr>
          <a:xfrm>
            <a:off x="714909" y="2169769"/>
            <a:ext cx="4427360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500">
                <a:solidFill>
                  <a:schemeClr val="dk1"/>
                </a:solidFill>
              </a:rPr>
              <a:t>La PyME "Zapatillas Duoc" comercializa calzado urbano. Actualmente presenta descuadres entre el inventario físico en bodega y el stock publicado para venta en línea, falta de automatización en las órdenes de reabastecimiento, e ineficiencias en la gestión coordinada entre tienda física y canal digital, todo esto se transforma en pérdida de dinero. </a:t>
            </a:r>
            <a:endParaRPr sz="2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6912079" y="2177325"/>
            <a:ext cx="4641292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>
                <a:solidFill>
                  <a:schemeClr val="dk1"/>
                </a:solidFill>
              </a:rPr>
              <a:t>Implementación de un Ecosistema Digital Integrado compuesto por una Tienda Web (Next.js) y un Dashboard Administrativo (Ionic) conectados a Supabase (PostgreSQL) para sincronizar en tiempo real el inventario de bodega y el canal digital. Esto se complementa con una App de Escritorio (Electron) y un Motor Predictivo en Python (FastAPI + ML) que automatiza la proyección de demanda y emite sugerencias de compra inteligentes, eliminando pérdidas por quiebres de stock o errores operativos </a:t>
            </a:r>
            <a:endParaRPr sz="22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264159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0" name="Google Shape;170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62425" y="100450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es-CL" sz="1500">
                <a:solidFill>
                  <a:schemeClr val="dk1"/>
                </a:solidFill>
              </a:rPr>
              <a:t>Desarrollar una plataforma web integral y una aplicación de escritorio que combine la venta E-Commerce y el análisis predictivo de inventario, reduciendo los quiebres de stock en tallas clave y rentabilizando la operación de Zapatillas Duoc.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/>
          <p:nvPr/>
        </p:nvSpPr>
        <p:spPr>
          <a:xfrm>
            <a:off x="614525" y="4613575"/>
            <a:ext cx="10962900" cy="20157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14325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Plus Jakarta Sans"/>
              <a:buAutoNum type="arabicPeriod"/>
            </a:pPr>
            <a:r>
              <a:rPr b="1"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Construir el Portal E-Commerce:</a:t>
            </a:r>
            <a:r>
              <a:rPr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Tienda web con catálogo interactivo y registro transaccional automatizado.</a:t>
            </a:r>
            <a:endParaRPr sz="1350"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Plus Jakarta Sans"/>
              <a:buAutoNum type="arabicPeriod"/>
            </a:pPr>
            <a:r>
              <a:rPr b="1"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Diseñar la BD Relacional:</a:t>
            </a:r>
            <a:r>
              <a:rPr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Base de datos PostgreSQL para consolidar usuarios, compras e inventario por talla.</a:t>
            </a:r>
            <a:endParaRPr sz="1350"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Plus Jakarta Sans"/>
              <a:buAutoNum type="arabicPeriod"/>
            </a:pPr>
            <a:r>
              <a:rPr b="1"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Implementar Motor Predictivo:</a:t>
            </a:r>
            <a:r>
              <a:rPr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Algoritmo en Python para proyectar necesidades de reposición según patrones de venta.</a:t>
            </a:r>
            <a:endParaRPr sz="1350"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Plus Jakarta Sans"/>
              <a:buAutoNum type="arabicPeriod"/>
            </a:pPr>
            <a:r>
              <a:rPr b="1"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Desplegar Dashboard HQ:</a:t>
            </a:r>
            <a:r>
              <a:rPr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Panel de control administrativo para visualización de métricas, stock crítico y alertas preventivas.</a:t>
            </a:r>
            <a:endParaRPr sz="1350"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-314325" lvl="0" marL="45720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Plus Jakarta Sans"/>
              <a:buAutoNum type="arabicPeriod"/>
            </a:pPr>
            <a:r>
              <a:rPr b="1"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Aplicación</a:t>
            </a:r>
            <a:r>
              <a:rPr b="1"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de Escritorio: </a:t>
            </a:r>
            <a:r>
              <a:rPr lang="es-CL" sz="1350">
                <a:solidFill>
                  <a:schemeClr val="dk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Panel de Procesos Predictivos (Alertas de Stock, Ventas)</a:t>
            </a:r>
            <a:endParaRPr sz="1350">
              <a:solidFill>
                <a:schemeClr val="dk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4"/>
          <p:cNvSpPr txBox="1"/>
          <p:nvPr/>
        </p:nvSpPr>
        <p:spPr>
          <a:xfrm>
            <a:off x="152400" y="1197198"/>
            <a:ext cx="11937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3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4"/>
          <p:cNvSpPr txBox="1"/>
          <p:nvPr/>
        </p:nvSpPr>
        <p:spPr>
          <a:xfrm>
            <a:off x="152450" y="3739725"/>
            <a:ext cx="119379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3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6425" y="131600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"/>
          <p:cNvSpPr txBox="1"/>
          <p:nvPr>
            <p:ph type="title"/>
          </p:nvPr>
        </p:nvSpPr>
        <p:spPr>
          <a:xfrm>
            <a:off x="1676400" y="358274"/>
            <a:ext cx="10515600" cy="54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Alcances</a:t>
            </a:r>
            <a:endParaRPr/>
          </a:p>
        </p:txBody>
      </p:sp>
      <p:sp>
        <p:nvSpPr>
          <p:cNvPr id="185" name="Google Shape;185;p5"/>
          <p:cNvSpPr txBox="1"/>
          <p:nvPr/>
        </p:nvSpPr>
        <p:spPr>
          <a:xfrm>
            <a:off x="1736525" y="1551475"/>
            <a:ext cx="10072800" cy="42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Que hace el Sistema: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SzPts val="1275"/>
              <a:buNone/>
            </a:pPr>
            <a:r>
              <a:rPr b="1"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Catálogo y Compras:</a:t>
            </a:r>
            <a:r>
              <a:rPr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Selección de tallas, carrito y registro en BD.</a:t>
            </a:r>
            <a:endParaRPr sz="1275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SzPts val="1275"/>
              <a:buNone/>
            </a:pPr>
            <a:r>
              <a:rPr b="1"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Gestión BD:</a:t>
            </a:r>
            <a:r>
              <a:rPr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Almacena ventas e inventario actualizado en tiempo real.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SzPts val="1275"/>
              <a:buNone/>
            </a:pPr>
            <a:r>
              <a:rPr b="1"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Predicción:</a:t>
            </a:r>
            <a:r>
              <a:rPr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Alertas preventivas antes de agotar tallas demandadas.</a:t>
            </a:r>
            <a:endParaRPr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SzPts val="1275"/>
              <a:buNone/>
            </a:pPr>
            <a:r>
              <a:rPr b="1"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Dashboard:</a:t>
            </a:r>
            <a:r>
              <a:rPr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Indicadores clave (KPIs) para la toma de decisiones.</a:t>
            </a:r>
            <a:endParaRPr sz="1275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SzPts val="1275"/>
              <a:buNone/>
            </a:pPr>
            <a:r>
              <a:t/>
            </a:r>
            <a:endParaRPr sz="1275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Qué no hace: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SzPts val="1275"/>
              <a:buNone/>
            </a:pPr>
            <a:r>
              <a:rPr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es el encargado de el transporte físico o logística de despacho a domicilio.</a:t>
            </a:r>
            <a:endParaRPr sz="1275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rtl="0" algn="l">
              <a:lnSpc>
                <a:spcPct val="15992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75"/>
              <a:buFont typeface="Arial"/>
              <a:buNone/>
            </a:pPr>
            <a:r>
              <a:rPr lang="es-CL" sz="1275">
                <a:solidFill>
                  <a:schemeClr val="lt1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No realiza facturación electrónica con SII (emite comprobantes web).</a:t>
            </a:r>
            <a:endParaRPr sz="1275">
              <a:solidFill>
                <a:schemeClr val="lt1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Otros Alcances o restricciones:</a:t>
            </a:r>
            <a:endParaRPr>
              <a:solidFill>
                <a:schemeClr val="lt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6" name="Google Shape;186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71100" y="61800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"/>
          <p:cNvSpPr txBox="1"/>
          <p:nvPr>
            <p:ph type="title"/>
          </p:nvPr>
        </p:nvSpPr>
        <p:spPr>
          <a:xfrm>
            <a:off x="1264250" y="841672"/>
            <a:ext cx="10515600" cy="50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r>
              <a:rPr lang="es-CL"/>
              <a:t>Lista de Requerimientos Funcionales</a:t>
            </a:r>
            <a:endParaRPr/>
          </a:p>
        </p:txBody>
      </p:sp>
      <p:graphicFrame>
        <p:nvGraphicFramePr>
          <p:cNvPr id="192" name="Google Shape;192;p6"/>
          <p:cNvGraphicFramePr/>
          <p:nvPr/>
        </p:nvGraphicFramePr>
        <p:xfrm>
          <a:off x="432950" y="1543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{BD737898-0A15-42CA-868B-B98E83FEC08A}</a:tableStyleId>
              </a:tblPr>
              <a:tblGrid>
                <a:gridCol w="1868850"/>
                <a:gridCol w="8877100"/>
              </a:tblGrid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R.1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Autenticación y Registro de Usuarios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R.2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Visualización de Catálogo de Calzado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R.3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Selección de Tallas e Inventario en Tiempo Real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R.4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Gestión de Carrito de Compras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R.5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Procesamiento de Checkout y Transacciones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R.6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Descuento Automatizado de Stock en BD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R.7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Historial de Compras del Cliente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R.8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Generación de Datos Sintéticos para ML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R.9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Proyección Predictiva de Demanda de Tallas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R.10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Detección y Alerta de Quiebre de Stock Inminente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R.11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Dashboard Administrativo HQ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R.12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Sugerencia Automática de Orden de Reabastecimiento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R.13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Gestión de Productos e Inventario (CRUD)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R.14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Vista Operativa para Tienda / Bodega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498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R.15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Generación de Reportes y Exportacion de Reportes (PDF)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193" name="Google Shape;193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88475" y="47188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7"/>
          <p:cNvSpPr txBox="1"/>
          <p:nvPr>
            <p:ph type="title"/>
          </p:nvPr>
        </p:nvSpPr>
        <p:spPr>
          <a:xfrm>
            <a:off x="1538566" y="1014318"/>
            <a:ext cx="10515600" cy="7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Lista de Requerimientos No Funcionales</a:t>
            </a:r>
            <a:endParaRPr/>
          </a:p>
        </p:txBody>
      </p:sp>
      <p:graphicFrame>
        <p:nvGraphicFramePr>
          <p:cNvPr id="199" name="Google Shape;199;p7"/>
          <p:cNvGraphicFramePr/>
          <p:nvPr/>
        </p:nvGraphicFramePr>
        <p:xfrm>
          <a:off x="1979725" y="2407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{BD737898-0A15-42CA-868B-B98E83FEC08A}</a:tableStyleId>
              </a:tblPr>
              <a:tblGrid>
                <a:gridCol w="896625"/>
                <a:gridCol w="4259000"/>
              </a:tblGrid>
              <a:tr h="619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R.1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Rendimiento y Tiempo de Respuesta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R.2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Seguridad y Encriptación de Datos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R.3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Disponibilidad y Hosting Cloud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R.4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Diseño Adaptativo (Responsive Design)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R.5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Integridad Transaccional y Concurrencia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R.6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000">
                          <a:solidFill>
                            <a:schemeClr val="lt1"/>
                          </a:solidFill>
                        </a:rPr>
                        <a:t>Escalabilidad Modular de la Arquitectura</a:t>
                      </a:r>
                      <a:endParaRPr sz="10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4472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200" name="Google Shape;20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7275" y="71918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8"/>
          <p:cNvSpPr txBox="1"/>
          <p:nvPr>
            <p:ph type="title"/>
          </p:nvPr>
        </p:nvSpPr>
        <p:spPr>
          <a:xfrm>
            <a:off x="1" y="113600"/>
            <a:ext cx="4076100" cy="52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0"/>
              <a:buFont typeface="Calibri"/>
              <a:buNone/>
            </a:pPr>
            <a:r>
              <a:rPr lang="es-CL" sz="2460"/>
              <a:t>Diseño del Sistema</a:t>
            </a:r>
            <a:endParaRPr sz="2460"/>
          </a:p>
        </p:txBody>
      </p:sp>
      <p:sp>
        <p:nvSpPr>
          <p:cNvPr id="206" name="Google Shape;206;p8"/>
          <p:cNvSpPr txBox="1"/>
          <p:nvPr/>
        </p:nvSpPr>
        <p:spPr>
          <a:xfrm>
            <a:off x="1532125" y="981200"/>
            <a:ext cx="251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Modelo Datos Relacional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7" name="Google Shape;207;p8" title="supabase-schema-lndssmwhvifnndambwpe_1.png"/>
          <p:cNvPicPr preferRelativeResize="0"/>
          <p:nvPr/>
        </p:nvPicPr>
        <p:blipFill rotWithShape="1">
          <a:blip r:embed="rId3">
            <a:alphaModFix/>
          </a:blip>
          <a:srcRect b="5362" l="22602" r="36349" t="1380"/>
          <a:stretch/>
        </p:blipFill>
        <p:spPr>
          <a:xfrm>
            <a:off x="4045525" y="935175"/>
            <a:ext cx="8076300" cy="5974251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8"/>
          <p:cNvSpPr txBox="1"/>
          <p:nvPr/>
        </p:nvSpPr>
        <p:spPr>
          <a:xfrm>
            <a:off x="0" y="1794700"/>
            <a:ext cx="3875700" cy="51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lt1"/>
                </a:solidFill>
              </a:rPr>
              <a:t>Este esquema relacional representa la base de datos de una plataforma de comercio electrónico (e-commerce) organizada en los siguientes módulos principales: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s-CL" sz="1200">
                <a:solidFill>
                  <a:schemeClr val="lt1"/>
                </a:solidFill>
              </a:rPr>
              <a:t>Catálogo de Productos:</a:t>
            </a:r>
            <a:r>
              <a:rPr lang="es-CL" sz="1200">
                <a:solidFill>
                  <a:schemeClr val="lt1"/>
                </a:solidFill>
              </a:rPr>
              <a:t> Gestión de productos, categorías, marcas, colores, precios, ofertas e inventarios por talla (productos, categorias, marcas, colores, stock). Incluye soporte para búsquedas vectoriales (embedding).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s-CL" sz="1200">
                <a:solidFill>
                  <a:schemeClr val="lt1"/>
                </a:solidFill>
              </a:rPr>
              <a:t>Usuarios y Perfiles:</a:t>
            </a:r>
            <a:r>
              <a:rPr lang="es-CL" sz="1200">
                <a:solidFill>
                  <a:schemeClr val="lt1"/>
                </a:solidFill>
              </a:rPr>
              <a:t> Registro de clientes vinculado a la autenticación del sistema (auth.users.id), guardando datos personales como RUT, nombre, correo y teléfono (perfiles).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s-CL" sz="1200">
                <a:solidFill>
                  <a:schemeClr val="lt1"/>
                </a:solidFill>
              </a:rPr>
              <a:t>Carrito y Compras:</a:t>
            </a:r>
            <a:r>
              <a:rPr lang="es-CL" sz="1200">
                <a:solidFill>
                  <a:schemeClr val="lt1"/>
                </a:solidFill>
              </a:rPr>
              <a:t> Manejo de items agregados al carrito (items_carrito) y procesamiento de órdenes de compra con distintos métodos de pago (pedidos, detalles_pedido, metodos_pago).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s-CL" sz="1200">
                <a:solidFill>
                  <a:schemeClr val="lt1"/>
                </a:solidFill>
              </a:rPr>
              <a:t>Direcciones y Logística:</a:t>
            </a:r>
            <a:r>
              <a:rPr lang="es-CL" sz="1200">
                <a:solidFill>
                  <a:schemeClr val="lt1"/>
                </a:solidFill>
              </a:rPr>
              <a:t> Administración de ubicaciones geográficas (regiones, comunas), direcciones asociadas a perfiles (direcciones) y seguimiento del despacho de pedidos (envios).</a:t>
            </a:r>
            <a:endParaRPr sz="1200">
              <a:solidFill>
                <a:schemeClr val="lt1"/>
              </a:solidFill>
            </a:endParaRPr>
          </a:p>
        </p:txBody>
      </p:sp>
      <p:pic>
        <p:nvPicPr>
          <p:cNvPr id="209" name="Google Shape;209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8501" y="152400"/>
            <a:ext cx="3505922" cy="63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9"/>
          <p:cNvSpPr txBox="1"/>
          <p:nvPr>
            <p:ph type="title"/>
          </p:nvPr>
        </p:nvSpPr>
        <p:spPr>
          <a:xfrm>
            <a:off x="661302" y="88686"/>
            <a:ext cx="10515600" cy="6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Diseño del Sistema</a:t>
            </a:r>
            <a:endParaRPr/>
          </a:p>
        </p:txBody>
      </p:sp>
      <p:sp>
        <p:nvSpPr>
          <p:cNvPr id="215" name="Google Shape;215;p9"/>
          <p:cNvSpPr txBox="1"/>
          <p:nvPr/>
        </p:nvSpPr>
        <p:spPr>
          <a:xfrm>
            <a:off x="1638475" y="1504805"/>
            <a:ext cx="10824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Diagrama de Caso Uso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40075" y="1620975"/>
            <a:ext cx="5178126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9"/>
          <p:cNvSpPr txBox="1"/>
          <p:nvPr/>
        </p:nvSpPr>
        <p:spPr>
          <a:xfrm>
            <a:off x="83125" y="2005450"/>
            <a:ext cx="4592700" cy="44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chemeClr val="lt1"/>
                </a:solidFill>
              </a:rPr>
              <a:t>Este diagrama de Casos de Uso sintetiza la interacción entre los distintos actores y los dos bloques tecnológicos del proyecto ATP (</a:t>
            </a:r>
            <a:r>
              <a:rPr i="1" lang="es-CL" sz="1300">
                <a:solidFill>
                  <a:schemeClr val="lt1"/>
                </a:solidFill>
              </a:rPr>
              <a:t>Zapatillas Duoc: E-Commerce &amp; Retail Analytics</a:t>
            </a:r>
            <a:r>
              <a:rPr lang="es-CL" sz="1300">
                <a:solidFill>
                  <a:schemeClr val="lt1"/>
                </a:solidFill>
              </a:rPr>
              <a:t>):</a:t>
            </a: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-CL" sz="1300">
                <a:solidFill>
                  <a:schemeClr val="lt1"/>
                </a:solidFill>
              </a:rPr>
              <a:t>Flujo Comercial Web (Cliente Comprador):</a:t>
            </a:r>
            <a:r>
              <a:rPr lang="es-CL" sz="1300">
                <a:solidFill>
                  <a:schemeClr val="lt1"/>
                </a:solidFill>
              </a:rPr>
              <a:t> Gestiona la navegación del catálogo, selección de tallas en tiempo real, carrito de compras y proceso de </a:t>
            </a:r>
            <a:r>
              <a:rPr i="1" lang="es-CL" sz="1300">
                <a:solidFill>
                  <a:schemeClr val="lt1"/>
                </a:solidFill>
              </a:rPr>
              <a:t>checkout</a:t>
            </a:r>
            <a:r>
              <a:rPr lang="es-CL" sz="1300">
                <a:solidFill>
                  <a:schemeClr val="lt1"/>
                </a:solidFill>
              </a:rPr>
              <a:t>.</a:t>
            </a: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-CL" sz="1300">
                <a:solidFill>
                  <a:schemeClr val="lt1"/>
                </a:solidFill>
              </a:rPr>
              <a:t>Gestión Operativa y Mantenedores (Administrador HQ / Operador Bodega):</a:t>
            </a:r>
            <a:r>
              <a:rPr lang="es-CL" sz="1300">
                <a:solidFill>
                  <a:schemeClr val="lt1"/>
                </a:solidFill>
              </a:rPr>
              <a:t> Controla el acceso de usuarios, la administración del catálogo mediante CRUD y el procesamiento de ventas/bodega.</a:t>
            </a: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es-CL" sz="1300">
                <a:solidFill>
                  <a:schemeClr val="lt1"/>
                </a:solidFill>
              </a:rPr>
              <a:t>Core Predictivo y Automatización (Sistema / ML Engine):</a:t>
            </a:r>
            <a:r>
              <a:rPr lang="es-CL" sz="1300">
                <a:solidFill>
                  <a:schemeClr val="lt1"/>
                </a:solidFill>
              </a:rPr>
              <a:t> Ejecuta proyecciones de demanda basadas en Machine Learning, las cuales gatillan de forma automatizada el descuento de stock y la emisión de alertas por quiebre de inventario.</a:t>
            </a:r>
            <a:endParaRPr sz="1300">
              <a:solidFill>
                <a:schemeClr val="lt1"/>
              </a:solidFill>
            </a:endParaRPr>
          </a:p>
        </p:txBody>
      </p:sp>
      <p:pic>
        <p:nvPicPr>
          <p:cNvPr id="218" name="Google Shape;218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40075" y="88674"/>
            <a:ext cx="2829750" cy="50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0"/>
          <p:cNvSpPr txBox="1"/>
          <p:nvPr>
            <p:ph type="title"/>
          </p:nvPr>
        </p:nvSpPr>
        <p:spPr>
          <a:xfrm>
            <a:off x="1473875" y="922988"/>
            <a:ext cx="7239000" cy="63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Arquitectura del Sistema</a:t>
            </a:r>
            <a:endParaRPr/>
          </a:p>
        </p:txBody>
      </p:sp>
      <p:sp>
        <p:nvSpPr>
          <p:cNvPr id="224" name="Google Shape;224;p10"/>
          <p:cNvSpPr txBox="1"/>
          <p:nvPr/>
        </p:nvSpPr>
        <p:spPr>
          <a:xfrm>
            <a:off x="0" y="1593900"/>
            <a:ext cx="7239000" cy="52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Patrón arquitectónico seleccionado para el desarrollo y Diagrama Vista Física: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>
                <a:solidFill>
                  <a:schemeClr val="lt1"/>
                </a:solidFill>
              </a:rPr>
              <a:t>Arquitectura Cliente-Servidor</a:t>
            </a:r>
            <a:endParaRPr sz="2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>
                <a:solidFill>
                  <a:schemeClr val="lt1"/>
                </a:solidFill>
              </a:rPr>
              <a:t>Las principales decisiones arquitectónicas se tomaron considerando la naturaleza del producto analítico y las restricciones del proyecto de título: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b="1" lang="es-CL">
                <a:solidFill>
                  <a:schemeClr val="lt1"/>
                </a:solidFill>
              </a:rPr>
              <a:t>Separación de responsabilidades mediante Arquitectura Cliente-Servidor:</a:t>
            </a:r>
            <a:r>
              <a:rPr lang="es-CL">
                <a:solidFill>
                  <a:schemeClr val="lt1"/>
                </a:solidFill>
              </a:rPr>
              <a:t> Se optó por aislar la lógica analítica pesada en un backend independiente desarrollado en </a:t>
            </a:r>
            <a:r>
              <a:rPr b="1" lang="es-CL">
                <a:solidFill>
                  <a:schemeClr val="lt1"/>
                </a:solidFill>
              </a:rPr>
              <a:t>Python con FastAPI</a:t>
            </a:r>
            <a:r>
              <a:rPr lang="es-CL">
                <a:solidFill>
                  <a:schemeClr val="lt1"/>
                </a:solidFill>
              </a:rPr>
              <a:t>, permitiendo que la interfaz de usuario en </a:t>
            </a:r>
            <a:r>
              <a:rPr b="1" lang="es-CL">
                <a:solidFill>
                  <a:schemeClr val="lt1"/>
                </a:solidFill>
              </a:rPr>
              <a:t>Electron + React + TypeScript</a:t>
            </a:r>
            <a:r>
              <a:rPr lang="es-CL">
                <a:solidFill>
                  <a:schemeClr val="lt1"/>
                </a:solidFill>
              </a:rPr>
              <a:t> se mantenga fluida sin bloqueos durante los procesos de entrenamiento.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b="1" lang="es-CL">
                <a:solidFill>
                  <a:schemeClr val="lt1"/>
                </a:solidFill>
              </a:rPr>
              <a:t>Estrategia de Machine Learning basada en Validación Temporal:</a:t>
            </a:r>
            <a:r>
              <a:rPr lang="es-CL">
                <a:solidFill>
                  <a:schemeClr val="lt1"/>
                </a:solidFill>
              </a:rPr>
              <a:t> Para evitar falsas expectativas de rendimiento futuro, se determinó que la validación de los modelos respetará estrictamente el orden temporal mediante ventanas sucesivas de entrenamiento y evaluación (utilizando métricas como MAE y error agregado de unidades), priorizando una referencia sencilla inicial (promedio móvil) antes de incorporar modelos basados en árboles.</a:t>
            </a:r>
            <a:endParaRPr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b="1" lang="es-CL">
                <a:solidFill>
                  <a:schemeClr val="lt1"/>
                </a:solidFill>
              </a:rPr>
              <a:t>Uso de Entorno Comercial Propio:</a:t>
            </a:r>
            <a:r>
              <a:rPr lang="es-CL">
                <a:solidFill>
                  <a:schemeClr val="lt1"/>
                </a:solidFill>
              </a:rPr>
              <a:t> Ante la falta de un negocio externo que facilitara datos reales, se diseñó e integró un entorno de demostración cohesivo (Tienda Next.js + Dashboard Ionic) conectado a Supabase, asegurando un flujo de datos transaccionales reproducible para alimentar el aplicativo predictivo.</a:t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39000" y="782025"/>
            <a:ext cx="4907975" cy="6075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75325" y="83125"/>
            <a:ext cx="3542200" cy="55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1"/>
          <p:cNvSpPr txBox="1"/>
          <p:nvPr>
            <p:ph type="title"/>
          </p:nvPr>
        </p:nvSpPr>
        <p:spPr>
          <a:xfrm>
            <a:off x="3880700" y="945275"/>
            <a:ext cx="5272200" cy="4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37500"/>
              <a:buFont typeface="Calibri"/>
              <a:buNone/>
            </a:pPr>
            <a:r>
              <a:rPr lang="es-CL"/>
              <a:t>Arquitectura del Sistema</a:t>
            </a:r>
            <a:endParaRPr/>
          </a:p>
        </p:txBody>
      </p:sp>
      <p:pic>
        <p:nvPicPr>
          <p:cNvPr id="232" name="Google Shape;232;p11" title="Diagrama TO-BE_ Proceso de Compras en Línea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725" y="2513500"/>
            <a:ext cx="6243350" cy="4184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p11" title="Diagrama TO-BE_ Proceso de Recepción de Mercadería.drawio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03100" y="2513500"/>
            <a:ext cx="5418175" cy="4184076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11"/>
          <p:cNvSpPr txBox="1"/>
          <p:nvPr/>
        </p:nvSpPr>
        <p:spPr>
          <a:xfrm>
            <a:off x="668150" y="5993775"/>
            <a:ext cx="45780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 txBox="1"/>
          <p:nvPr/>
        </p:nvSpPr>
        <p:spPr>
          <a:xfrm>
            <a:off x="6603100" y="2050300"/>
            <a:ext cx="53304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Proceso de Recepción de Mercadería </a:t>
            </a:r>
            <a:endParaRPr b="1"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1"/>
          <p:cNvSpPr txBox="1"/>
          <p:nvPr/>
        </p:nvSpPr>
        <p:spPr>
          <a:xfrm>
            <a:off x="118725" y="1931250"/>
            <a:ext cx="5330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Proceso de Compras en Línea </a:t>
            </a:r>
            <a:endParaRPr b="1"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 txBox="1"/>
          <p:nvPr/>
        </p:nvSpPr>
        <p:spPr>
          <a:xfrm>
            <a:off x="4454400" y="1496200"/>
            <a:ext cx="32832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Diagrama de Actividades</a:t>
            </a:r>
            <a:endParaRPr sz="2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8" name="Google Shape;238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83225" y="48500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h41100a3a81f78b8a_2_6" title="Diagrama TO-BE_ Generación de Sugerencias de Compra Automáticas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0425" y="1615875"/>
            <a:ext cx="7951176" cy="50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h41100a3a81f78b8a_2_6"/>
          <p:cNvSpPr txBox="1"/>
          <p:nvPr/>
        </p:nvSpPr>
        <p:spPr>
          <a:xfrm>
            <a:off x="2120413" y="1029250"/>
            <a:ext cx="7951200" cy="43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4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Generación de Sugerencias de Compra Automáticas </a:t>
            </a:r>
            <a:endParaRPr b="1" sz="2400" u="sng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5" name="Google Shape;245;h41100a3a81f78b8a_2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39950" y="48500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2"/>
          <p:cNvSpPr txBox="1"/>
          <p:nvPr>
            <p:ph type="title"/>
          </p:nvPr>
        </p:nvSpPr>
        <p:spPr>
          <a:xfrm>
            <a:off x="1794277" y="1128661"/>
            <a:ext cx="10515600" cy="64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Tecnologías del Desarrollo</a:t>
            </a:r>
            <a:endParaRPr/>
          </a:p>
        </p:txBody>
      </p:sp>
      <p:pic>
        <p:nvPicPr>
          <p:cNvPr id="251" name="Google Shape;251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975286"/>
            <a:ext cx="11887202" cy="3720492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06200" y="60428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3"/>
          <p:cNvSpPr txBox="1"/>
          <p:nvPr>
            <p:ph type="title"/>
          </p:nvPr>
        </p:nvSpPr>
        <p:spPr>
          <a:xfrm>
            <a:off x="1494975" y="216275"/>
            <a:ext cx="10515600" cy="125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/>
              <a:t>Planificación</a:t>
            </a:r>
            <a:endParaRPr/>
          </a:p>
        </p:txBody>
      </p:sp>
      <p:pic>
        <p:nvPicPr>
          <p:cNvPr id="258" name="Google Shape;258;p13"/>
          <p:cNvPicPr preferRelativeResize="0"/>
          <p:nvPr/>
        </p:nvPicPr>
        <p:blipFill rotWithShape="1">
          <a:blip r:embed="rId3">
            <a:alphaModFix/>
          </a:blip>
          <a:srcRect b="0" l="-57307" r="0" t="0"/>
          <a:stretch/>
        </p:blipFill>
        <p:spPr>
          <a:xfrm>
            <a:off x="601600" y="1473875"/>
            <a:ext cx="11540300" cy="5082401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13"/>
          <p:cNvSpPr txBox="1"/>
          <p:nvPr/>
        </p:nvSpPr>
        <p:spPr>
          <a:xfrm>
            <a:off x="170450" y="1473875"/>
            <a:ext cx="4542000" cy="55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1. Planificación y Análisis (Semanas 1 - 4)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Agosto:</a:t>
            </a:r>
            <a:r>
              <a:rPr lang="es-CL" sz="1100">
                <a:solidFill>
                  <a:schemeClr val="lt1"/>
                </a:solidFill>
              </a:rPr>
              <a:t> Acta de constitución, definición de requerimientos gerenciales y arquitectura base SW.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Diseño:</a:t>
            </a:r>
            <a:r>
              <a:rPr lang="es-CL" sz="1100">
                <a:solidFill>
                  <a:schemeClr val="lt1"/>
                </a:solidFill>
              </a:rPr>
              <a:t> Documento ERS, casos de uso (CU01–CU14) y prototipos/mockups en Figma.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2. Fase de Desarrollo Core (Semanas 5 - 10)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Infraestructura:</a:t>
            </a:r>
            <a:r>
              <a:rPr lang="es-CL" sz="1100">
                <a:solidFill>
                  <a:schemeClr val="lt1"/>
                </a:solidFill>
              </a:rPr>
              <a:t> Configuración de ambientes en Render, Supabase y VS Code.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Módulos:</a:t>
            </a:r>
            <a:r>
              <a:rPr lang="es-CL" sz="1100">
                <a:solidFill>
                  <a:schemeClr val="lt1"/>
                </a:solidFill>
              </a:rPr>
              <a:t> E-Commerce, Carrito, Checkout Transaccional y Mantenadores CRUD completos.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Machine Learning:</a:t>
            </a:r>
            <a:r>
              <a:rPr lang="es-CL" sz="1100">
                <a:solidFill>
                  <a:schemeClr val="lt1"/>
                </a:solidFill>
              </a:rPr>
              <a:t> Modelo predictivo de demanda por tallas (Scikit-Learn) y motor de alertas.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3. Dashboards y Reportería (Semanas 11 - 14)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Panel Admin:</a:t>
            </a:r>
            <a:r>
              <a:rPr lang="es-CL" sz="1100">
                <a:solidFill>
                  <a:schemeClr val="lt1"/>
                </a:solidFill>
              </a:rPr>
              <a:t> KPIs de ventas, velocidad de rotación de stock y semáforo de alertas ML.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Exportación:</a:t>
            </a:r>
            <a:r>
              <a:rPr lang="es-CL" sz="1100">
                <a:solidFill>
                  <a:schemeClr val="lt1"/>
                </a:solidFill>
              </a:rPr>
              <a:t> Reportes consolidados y predictivos en formatos PDF y Excel (pdfmake/exceljs).</a:t>
            </a:r>
            <a:endParaRPr sz="1100">
              <a:solidFill>
                <a:schemeClr val="lt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4. Pruebas, Despliegue y Cierre (Semanas 15 - 17)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QA:</a:t>
            </a:r>
            <a:r>
              <a:rPr lang="es-CL" sz="1100">
                <a:solidFill>
                  <a:schemeClr val="lt1"/>
                </a:solidFill>
              </a:rPr>
              <a:t> Pruebas integradas de API REST, seguridad y carga masiva.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Puesta en Marcha:</a:t>
            </a:r>
            <a:r>
              <a:rPr lang="es-CL" sz="1100">
                <a:solidFill>
                  <a:schemeClr val="lt1"/>
                </a:solidFill>
              </a:rPr>
              <a:t> Migración a producción, capacitaciones a bodega/admin y Acta de Cierre Final.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id="260" name="Google Shape;260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450" y="88763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4"/>
          <p:cNvSpPr txBox="1"/>
          <p:nvPr>
            <p:ph type="title"/>
          </p:nvPr>
        </p:nvSpPr>
        <p:spPr>
          <a:xfrm>
            <a:off x="1683125" y="963550"/>
            <a:ext cx="4696800" cy="47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960"/>
              <a:buFont typeface="Calibri"/>
              <a:buNone/>
            </a:pPr>
            <a:r>
              <a:rPr lang="es-CL" sz="2000"/>
              <a:t>Resumen de Costos Estimados del Proyecto</a:t>
            </a:r>
            <a:endParaRPr sz="2000"/>
          </a:p>
        </p:txBody>
      </p:sp>
      <p:sp>
        <p:nvSpPr>
          <p:cNvPr id="266" name="Google Shape;266;p14"/>
          <p:cNvSpPr txBox="1"/>
          <p:nvPr/>
        </p:nvSpPr>
        <p:spPr>
          <a:xfrm>
            <a:off x="0" y="1701175"/>
            <a:ext cx="60060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Fase 1: E-Commerce &amp; BD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Duración:</a:t>
            </a:r>
            <a:r>
              <a:rPr lang="es-CL" sz="1100">
                <a:solidFill>
                  <a:schemeClr val="lt1"/>
                </a:solidFill>
              </a:rPr>
              <a:t> Mes 1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Costo:</a:t>
            </a:r>
            <a:r>
              <a:rPr lang="es-CL" sz="1100">
                <a:solidFill>
                  <a:schemeClr val="lt1"/>
                </a:solidFill>
              </a:rPr>
              <a:t> $800.000 CLP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Alcance:</a:t>
            </a:r>
            <a:r>
              <a:rPr lang="es-CL" sz="1100">
                <a:solidFill>
                  <a:schemeClr val="lt1"/>
                </a:solidFill>
              </a:rPr>
              <a:t> Tienda Web Next.js, Supabase Auth/PostgreSQL[cite: 1, 2] y Mercado Pago.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267" name="Google Shape;267;p14"/>
          <p:cNvSpPr txBox="1"/>
          <p:nvPr/>
        </p:nvSpPr>
        <p:spPr>
          <a:xfrm>
            <a:off x="6327900" y="1433950"/>
            <a:ext cx="60060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Fase 2: Engine Analytics &amp; ML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Duración:</a:t>
            </a:r>
            <a:r>
              <a:rPr lang="es-CL" sz="1100">
                <a:solidFill>
                  <a:schemeClr val="lt1"/>
                </a:solidFill>
              </a:rPr>
              <a:t> Mes 2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Costo:</a:t>
            </a:r>
            <a:r>
              <a:rPr lang="es-CL" sz="1100">
                <a:solidFill>
                  <a:schemeClr val="lt1"/>
                </a:solidFill>
              </a:rPr>
              <a:t> $1.000.000 CLP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Alcance:</a:t>
            </a:r>
            <a:r>
              <a:rPr lang="es-CL" sz="1100">
                <a:solidFill>
                  <a:schemeClr val="lt1"/>
                </a:solidFill>
              </a:rPr>
              <a:t> App Escritorio Electron, Motor FastAPI y Modelos ML (Prophet/scikit-learn).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268" name="Google Shape;268;p14"/>
          <p:cNvSpPr txBox="1"/>
          <p:nvPr/>
        </p:nvSpPr>
        <p:spPr>
          <a:xfrm>
            <a:off x="0" y="2758000"/>
            <a:ext cx="64215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Fase 3: Dashboard &amp; Bodega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Duración:</a:t>
            </a:r>
            <a:r>
              <a:rPr lang="es-CL" sz="1100">
                <a:solidFill>
                  <a:schemeClr val="lt1"/>
                </a:solidFill>
              </a:rPr>
              <a:t> Mes 3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Costo:</a:t>
            </a:r>
            <a:r>
              <a:rPr lang="es-CL" sz="1100">
                <a:solidFill>
                  <a:schemeClr val="lt1"/>
                </a:solidFill>
              </a:rPr>
              <a:t> $900.000 CLP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Alcance:</a:t>
            </a:r>
            <a:r>
              <a:rPr lang="es-CL" sz="1100">
                <a:solidFill>
                  <a:schemeClr val="lt1"/>
                </a:solidFill>
              </a:rPr>
              <a:t> Dashboard Ionic+React, CRUD Productos/Inventario y Sugerencias de Compra.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269" name="Google Shape;269;p14"/>
          <p:cNvSpPr txBox="1"/>
          <p:nvPr/>
        </p:nvSpPr>
        <p:spPr>
          <a:xfrm>
            <a:off x="6379925" y="2525950"/>
            <a:ext cx="6082200" cy="10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Fase 4: Despliegue &amp; QA</a:t>
            </a:r>
            <a:endParaRPr b="1"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Duración:</a:t>
            </a:r>
            <a:r>
              <a:rPr lang="es-CL" sz="1100">
                <a:solidFill>
                  <a:schemeClr val="lt1"/>
                </a:solidFill>
              </a:rPr>
              <a:t> Mes 4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Costo:</a:t>
            </a:r>
            <a:r>
              <a:rPr lang="es-CL" sz="1100">
                <a:solidFill>
                  <a:schemeClr val="lt1"/>
                </a:solidFill>
              </a:rPr>
              <a:t> $500.000 CLP</a:t>
            </a:r>
            <a:endParaRPr sz="1100">
              <a:solidFill>
                <a:schemeClr val="lt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</a:pPr>
            <a:r>
              <a:rPr b="1" lang="es-CL" sz="1100">
                <a:solidFill>
                  <a:schemeClr val="lt1"/>
                </a:solidFill>
              </a:rPr>
              <a:t>Alcance:</a:t>
            </a:r>
            <a:r>
              <a:rPr lang="es-CL" sz="1100">
                <a:solidFill>
                  <a:schemeClr val="lt1"/>
                </a:solidFill>
              </a:rPr>
              <a:t> Pruebas integradas, optimización ML, despliegue Cloud y capacitación.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270" name="Google Shape;270;p14"/>
          <p:cNvSpPr txBox="1"/>
          <p:nvPr/>
        </p:nvSpPr>
        <p:spPr>
          <a:xfrm>
            <a:off x="0" y="4384975"/>
            <a:ext cx="5652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>
                <a:solidFill>
                  <a:schemeClr val="lt1"/>
                </a:solidFill>
              </a:rPr>
              <a:t>Estructura de Costos Operativos Estimados / Mensuales (OPEX) 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271" name="Google Shape;271;p14"/>
          <p:cNvSpPr txBox="1"/>
          <p:nvPr/>
        </p:nvSpPr>
        <p:spPr>
          <a:xfrm>
            <a:off x="0" y="4847700"/>
            <a:ext cx="5351400" cy="201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-CL" sz="1200">
                <a:solidFill>
                  <a:schemeClr val="lt1"/>
                </a:solidFill>
              </a:rPr>
              <a:t>Para que el proyecto empiece a operar tras su puesta en marcha, se contemplan los siguientes costos mensuales de servicios en la nube: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s-CL" sz="1200">
                <a:solidFill>
                  <a:schemeClr val="lt1"/>
                </a:solidFill>
              </a:rPr>
              <a:t>Supabase (Tier Pro):</a:t>
            </a:r>
            <a:r>
              <a:rPr lang="es-CL" sz="1200">
                <a:solidFill>
                  <a:schemeClr val="lt1"/>
                </a:solidFill>
              </a:rPr>
              <a:t> ~$25 USD/mes (~$24.000 CLP/mes).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s-CL" sz="1200">
                <a:solidFill>
                  <a:schemeClr val="lt1"/>
                </a:solidFill>
              </a:rPr>
              <a:t>Hosting Tienda Web (Vercel / Netlify Tier Pro/Free):</a:t>
            </a:r>
            <a:r>
              <a:rPr lang="es-CL" sz="1200">
                <a:solidFill>
                  <a:schemeClr val="lt1"/>
                </a:solidFill>
              </a:rPr>
              <a:t> ~$0 - $20 USD/mes (~$0 - $19.000 CLP/mes).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s-CL" sz="1200">
                <a:solidFill>
                  <a:schemeClr val="lt1"/>
                </a:solidFill>
              </a:rPr>
              <a:t>Dominio y Certificados SSL:</a:t>
            </a:r>
            <a:r>
              <a:rPr lang="es-CL" sz="1200">
                <a:solidFill>
                  <a:schemeClr val="lt1"/>
                </a:solidFill>
              </a:rPr>
              <a:t> ~$15 USD/año (~$14.000 CLP/año).</a:t>
            </a:r>
            <a:endParaRPr sz="1200">
              <a:solidFill>
                <a:schemeClr val="lt1"/>
              </a:solidFill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</a:pPr>
            <a:r>
              <a:rPr b="1" lang="es-CL" sz="1200">
                <a:solidFill>
                  <a:schemeClr val="lt1"/>
                </a:solidFill>
              </a:rPr>
              <a:t>Estimación Costo Fijo Mensual Post-Despliegue:</a:t>
            </a:r>
            <a:r>
              <a:rPr lang="es-CL" sz="1200">
                <a:solidFill>
                  <a:schemeClr val="lt1"/>
                </a:solidFill>
              </a:rPr>
              <a:t> </a:t>
            </a:r>
            <a:r>
              <a:rPr b="1" lang="es-CL" sz="1200">
                <a:solidFill>
                  <a:schemeClr val="lt1"/>
                </a:solidFill>
              </a:rPr>
              <a:t>~$25.000 a $45.000 CLP/mes</a:t>
            </a:r>
            <a:r>
              <a:rPr lang="es-CL" sz="1200">
                <a:solidFill>
                  <a:schemeClr val="lt1"/>
                </a:solidFill>
              </a:rPr>
              <a:t>.</a:t>
            </a:r>
            <a:endParaRPr sz="1200">
              <a:solidFill>
                <a:schemeClr val="lt1"/>
              </a:solidFill>
            </a:endParaRPr>
          </a:p>
        </p:txBody>
      </p:sp>
      <p:pic>
        <p:nvPicPr>
          <p:cNvPr id="272" name="Google Shape;27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6300" y="71175"/>
            <a:ext cx="3867150" cy="695325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14"/>
          <p:cNvSpPr txBox="1"/>
          <p:nvPr/>
        </p:nvSpPr>
        <p:spPr>
          <a:xfrm>
            <a:off x="0" y="3940488"/>
            <a:ext cx="6006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b="1" lang="es-CL" sz="1100">
                <a:solidFill>
                  <a:schemeClr val="lt1"/>
                </a:solidFill>
              </a:rPr>
              <a:t>TOTAL: $3.200.000</a:t>
            </a:r>
            <a:endParaRPr sz="1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5"/>
          <p:cNvSpPr txBox="1"/>
          <p:nvPr/>
        </p:nvSpPr>
        <p:spPr>
          <a:xfrm>
            <a:off x="1285425" y="706575"/>
            <a:ext cx="11197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s-CL" sz="44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Presentación del sistema desarrollado en vivo 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279" name="Google Shape;2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77575" y="58875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h58efd7b550deba3d_5_0"/>
          <p:cNvSpPr txBox="1"/>
          <p:nvPr>
            <p:ph type="title"/>
          </p:nvPr>
        </p:nvSpPr>
        <p:spPr>
          <a:xfrm>
            <a:off x="4962075" y="881375"/>
            <a:ext cx="1932600" cy="554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/>
              <a:t>ANEXOS</a:t>
            </a:r>
            <a:endParaRPr/>
          </a:p>
        </p:txBody>
      </p:sp>
      <p:pic>
        <p:nvPicPr>
          <p:cNvPr id="285" name="Google Shape;285;h58efd7b550deba3d_5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921825"/>
            <a:ext cx="11887199" cy="153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h58efd7b550deba3d_5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4520850"/>
            <a:ext cx="7050325" cy="204405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h58efd7b550deba3d_5_0"/>
          <p:cNvSpPr txBox="1"/>
          <p:nvPr/>
        </p:nvSpPr>
        <p:spPr>
          <a:xfrm>
            <a:off x="190500" y="1436075"/>
            <a:ext cx="2582700" cy="4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8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Matriz de riesgo</a:t>
            </a:r>
            <a:endParaRPr b="1" sz="2800" u="sng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h58efd7b550deba3d_5_0"/>
          <p:cNvSpPr txBox="1"/>
          <p:nvPr/>
        </p:nvSpPr>
        <p:spPr>
          <a:xfrm>
            <a:off x="190500" y="4035150"/>
            <a:ext cx="2582700" cy="48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800" u="sng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Matriz RACI</a:t>
            </a:r>
            <a:endParaRPr b="1" sz="2800" u="sng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9" name="Google Shape;289;h58efd7b550deba3d_5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30150" y="61698"/>
            <a:ext cx="3867150" cy="69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2015-07-01T15:45:01Z</dcterms:created>
  <dc:creator>Sala_</dc:creator>
</cp:coreProperties>
</file>