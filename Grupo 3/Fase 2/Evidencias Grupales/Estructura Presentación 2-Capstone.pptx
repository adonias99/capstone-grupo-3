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Plus Jakarta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sqwqPAByniS8R49YkDUdO0cTX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33" Type="http://schemas.openxmlformats.org/officeDocument/2006/relationships/font" Target="fonts/Lato-italic.fntdata"/><Relationship Id="rId10" Type="http://schemas.openxmlformats.org/officeDocument/2006/relationships/slide" Target="slides/slide6.xml"/><Relationship Id="rId32" Type="http://schemas.openxmlformats.org/officeDocument/2006/relationships/font" Target="fonts/Lato-bold.fntdata"/><Relationship Id="rId13" Type="http://schemas.openxmlformats.org/officeDocument/2006/relationships/slide" Target="slides/slide9.xml"/><Relationship Id="rId35" Type="http://schemas.openxmlformats.org/officeDocument/2006/relationships/font" Target="fonts/PlusJakartaSans-regular.fntdata"/><Relationship Id="rId12" Type="http://schemas.openxmlformats.org/officeDocument/2006/relationships/slide" Target="slides/slide8.xml"/><Relationship Id="rId34" Type="http://schemas.openxmlformats.org/officeDocument/2006/relationships/font" Target="fonts/Lato-boldItalic.fntdata"/><Relationship Id="rId15" Type="http://schemas.openxmlformats.org/officeDocument/2006/relationships/slide" Target="slides/slide11.xml"/><Relationship Id="rId37" Type="http://schemas.openxmlformats.org/officeDocument/2006/relationships/font" Target="fonts/PlusJakartaSans-italic.fntdata"/><Relationship Id="rId14" Type="http://schemas.openxmlformats.org/officeDocument/2006/relationships/slide" Target="slides/slide10.xml"/><Relationship Id="rId36" Type="http://schemas.openxmlformats.org/officeDocument/2006/relationships/font" Target="fonts/PlusJakartaSans-bold.fntdata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font" Target="fonts/PlusJakartaSan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301d43bf6340a41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301d43bf6340a4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b3689b09fc8131d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b3689b09fc8131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b3689b09fc8131d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b3689b09fc8131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b3689b09fc8131d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b3689b09fc8131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b3689b09fc8131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b3689b09fc813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b3689b09fc8131d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b3689b09fc8131d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56d519529de4599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56d519529de459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58efd7b550deba3d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58efd7b550deba3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41100a3a81f78b8a_1_116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h41100a3a81f78b8a_1_116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h41100a3a81f78b8a_1_116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h41100a3a81f78b8a_1_116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h41100a3a81f78b8a_1_116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h41100a3a81f78b8a_1_116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h41100a3a81f78b8a_1_116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h41100a3a81f78b8a_1_116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h41100a3a81f78b8a_1_1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h41100a3a81f78b8a_1_126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h41100a3a81f78b8a_1_12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h41100a3a81f78b8a_1_12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h41100a3a81f78b8a_1_12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h41100a3a81f78b8a_1_12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h41100a3a81f78b8a_1_12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h41100a3a81f78b8a_1_12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h41100a3a81f78b8a_1_12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h41100a3a81f78b8a_1_12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h41100a3a81f78b8a_1_12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h41100a3a81f78b8a_1_12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h41100a3a81f78b8a_1_12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h41100a3a81f78b8a_1_12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h41100a3a81f78b8a_1_12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h41100a3a81f78b8a_1_12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h41100a3a81f78b8a_1_12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h41100a3a81f78b8a_1_12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h41100a3a81f78b8a_1_12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h41100a3a81f78b8a_1_12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h41100a3a81f78b8a_1_126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h41100a3a81f78b8a_1_1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h41100a3a81f78b8a_1_148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h41100a3a81f78b8a_1_14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h41100a3a81f78b8a_1_14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h41100a3a81f78b8a_1_148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h41100a3a81f78b8a_1_148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h41100a3a81f78b8a_1_1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h41100a3a81f78b8a_1_15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h41100a3a81f78b8a_1_15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h41100a3a81f78b8a_1_15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h41100a3a81f78b8a_1_15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h41100a3a81f78b8a_1_15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h41100a3a81f78b8a_1_15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h41100a3a81f78b8a_1_1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h41100a3a81f78b8a_1_163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h41100a3a81f78b8a_1_16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h41100a3a81f78b8a_1_16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h41100a3a81f78b8a_1_163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h41100a3a81f78b8a_1_1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h41100a3a81f78b8a_1_16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h41100a3a81f78b8a_1_16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h41100a3a81f78b8a_1_16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h41100a3a81f78b8a_1_169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h41100a3a81f78b8a_1_169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h41100a3a81f78b8a_1_1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h41100a3a81f78b8a_1_176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h41100a3a81f78b8a_1_176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h41100a3a81f78b8a_1_176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h41100a3a81f78b8a_1_176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h41100a3a81f78b8a_1_176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h41100a3a81f78b8a_1_176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h41100a3a81f78b8a_1_17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h41100a3a81f78b8a_1_176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h41100a3a81f78b8a_1_176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h41100a3a81f78b8a_1_176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h41100a3a81f78b8a_1_176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h41100a3a81f78b8a_1_176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h41100a3a81f78b8a_1_176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h41100a3a81f78b8a_1_176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h41100a3a81f78b8a_1_176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h41100a3a81f78b8a_1_176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h41100a3a81f78b8a_1_17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h41100a3a81f78b8a_1_176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h41100a3a81f78b8a_1_176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h41100a3a81f78b8a_1_176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h41100a3a81f78b8a_1_1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h41100a3a81f78b8a_1_198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h41100a3a81f78b8a_1_19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h41100a3a81f78b8a_1_19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h41100a3a81f78b8a_1_198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h41100a3a81f78b8a_1_198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h41100a3a81f78b8a_1_198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h41100a3a81f78b8a_1_1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h41100a3a81f78b8a_1_206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h41100a3a81f78b8a_1_206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h41100a3a81f78b8a_1_206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h41100a3a81f78b8a_1_206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h41100a3a81f78b8a_1_20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h41100a3a81f78b8a_1_212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h41100a3a81f78b8a_1_21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h41100a3a81f78b8a_1_21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h41100a3a81f78b8a_1_21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h41100a3a81f78b8a_1_21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h41100a3a81f78b8a_1_21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h41100a3a81f78b8a_1_2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h41100a3a81f78b8a_1_21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h41100a3a81f78b8a_1_21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h41100a3a81f78b8a_1_21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h41100a3a81f78b8a_1_21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h41100a3a81f78b8a_1_21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h41100a3a81f78b8a_1_21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h41100a3a81f78b8a_1_21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h41100a3a81f78b8a_1_21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h41100a3a81f78b8a_1_21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h41100a3a81f78b8a_1_21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h41100a3a81f78b8a_1_21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h41100a3a81f78b8a_1_21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h41100a3a81f78b8a_1_212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h41100a3a81f78b8a_1_212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h41100a3a81f78b8a_1_2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1100a3a81f78b8a_1_2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41100a3a81f78b8a_1_1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h41100a3a81f78b8a_1_11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h41100a3a81f78b8a_1_1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8.png"/><Relationship Id="rId6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8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1884986" y="1378083"/>
            <a:ext cx="91440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</a:t>
            </a: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Zapatillas Duoc: E-Commerce &amp; Retail Analytics</a:t>
            </a:r>
            <a:r>
              <a:rPr lang="es-CL" sz="3200"/>
              <a:t>”</a:t>
            </a:r>
            <a:endParaRPr/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1584175" y="3573024"/>
            <a:ext cx="91440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136" name="Google Shape;13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925" y="108711"/>
            <a:ext cx="38671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/>
        </p:nvSpPr>
        <p:spPr>
          <a:xfrm>
            <a:off x="555827" y="2315666"/>
            <a:ext cx="299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2"/>
          <p:cNvGrpSpPr/>
          <p:nvPr/>
        </p:nvGrpSpPr>
        <p:grpSpPr>
          <a:xfrm>
            <a:off x="4072526" y="1019584"/>
            <a:ext cx="6781052" cy="4590224"/>
            <a:chOff x="0" y="0"/>
            <a:chExt cx="6781052" cy="4590224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Alcaide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 / Backend Developer </a:t>
              </a:r>
              <a:endParaRPr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Josias Gonzalez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Lead DBA / DevOps Engineer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Israel Gonzalez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Dev (Dashboard) / QA Lead</a:t>
              </a:r>
              <a:endParaRPr/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Bastian Quilodran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Engineer / ML Developer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2"/>
          <p:cNvSpPr/>
          <p:nvPr/>
        </p:nvSpPr>
        <p:spPr>
          <a:xfrm>
            <a:off x="4072601" y="5728239"/>
            <a:ext cx="6780900" cy="10674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5D7FC9"/>
              </a:gs>
              <a:gs pos="50000">
                <a:srgbClr val="3A6EC9"/>
              </a:gs>
              <a:gs pos="100000">
                <a:srgbClr val="2C5EB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4155025" y="5834889"/>
            <a:ext cx="1356300" cy="854100"/>
          </a:xfrm>
          <a:prstGeom prst="roundRect">
            <a:avLst>
              <a:gd fmla="val 10000" name="adj"/>
            </a:avLst>
          </a:prstGeom>
          <a:solidFill>
            <a:srgbClr val="BCC5E4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5594353" y="5728239"/>
            <a:ext cx="53181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Horacio Vergara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Stack Developer / Data Engineer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" title="4fe44943-0cb8-48d8-a61b-316af6932287.jpg"/>
          <p:cNvPicPr preferRelativeResize="0"/>
          <p:nvPr/>
        </p:nvPicPr>
        <p:blipFill rotWithShape="1">
          <a:blip r:embed="rId3">
            <a:alphaModFix/>
          </a:blip>
          <a:srcRect b="35977" l="0" r="0" t="13344"/>
          <a:stretch/>
        </p:blipFill>
        <p:spPr>
          <a:xfrm>
            <a:off x="4113525" y="5779650"/>
            <a:ext cx="1439299" cy="9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3525" y="3449050"/>
            <a:ext cx="1439299" cy="9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"/>
          <p:cNvPicPr preferRelativeResize="0"/>
          <p:nvPr/>
        </p:nvPicPr>
        <p:blipFill rotWithShape="1">
          <a:blip r:embed="rId5">
            <a:alphaModFix/>
          </a:blip>
          <a:srcRect b="39284" l="0" r="0" t="0"/>
          <a:stretch/>
        </p:blipFill>
        <p:spPr>
          <a:xfrm>
            <a:off x="4140525" y="2245500"/>
            <a:ext cx="1439300" cy="9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3988" y="87149"/>
            <a:ext cx="3767726" cy="677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type="title"/>
          </p:nvPr>
        </p:nvSpPr>
        <p:spPr>
          <a:xfrm>
            <a:off x="3242284" y="1010438"/>
            <a:ext cx="10515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</a:rPr>
              <a:t>La PyME "Zapatillas Duoc" comercializa calzado urbano. Actualmente presenta descuadres entre el inventario físico en bodega y el stock publicado para venta en línea, falta de automatización en las órdenes de reabastecimiento, e ineficiencias en la gestión coordinada entre tienda física y canal digital, todo esto se transforma en pérdida de dinero.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</a:rPr>
              <a:t>Implementación de un Ecosistema Digital Integrado compuesto por una Tienda Web (Next.js) y un Dashboard Administrativo (Ionic) conectados a Supabase (PostgreSQL) para sincronizar en tiempo real el inventario de bodega y el canal digital. Esto se complementa con una App de Escritorio (Electron) y un Motor Predictivo en Python (FastAPI + ML) que automatiza la proyección de demanda y emite sugerencias de compra inteligentes, eliminando pérdidas por quiebres de stock o errores operativos </a:t>
            </a:r>
            <a:endParaRPr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3625" y="80550"/>
            <a:ext cx="38671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Desarrollar una plataforma web integral y una aplicación de escritorio que combine la venta E-Commerce y el análisis predictivo de inventario, reduciendo los quiebres de stock en tallas clave y rentabilizando la operación de Zapatillas Duoc.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14525" y="4613575"/>
            <a:ext cx="10962900" cy="201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Plus Jakarta Sans"/>
              <a:buAutoNum type="arabicPeriod"/>
            </a:pPr>
            <a:r>
              <a:rPr b="1"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Construir el Portal E-Commerce:</a:t>
            </a:r>
            <a:r>
              <a:rPr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Tienda web con catálogo interactivo y registro transaccional automatizado.</a:t>
            </a:r>
            <a:endParaRPr sz="135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Plus Jakarta Sans"/>
              <a:buAutoNum type="arabicPeriod"/>
            </a:pPr>
            <a:r>
              <a:rPr b="1"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Diseñar la BD Relacional:</a:t>
            </a:r>
            <a:r>
              <a:rPr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de datos PostgreSQL para consolidar usuarios, compras e inventario por talla.</a:t>
            </a:r>
            <a:endParaRPr sz="135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Plus Jakarta Sans"/>
              <a:buAutoNum type="arabicPeriod"/>
            </a:pPr>
            <a:r>
              <a:rPr b="1"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 Motor Predictivo:</a:t>
            </a:r>
            <a:r>
              <a:rPr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Algoritmo en Python para proyectar necesidades de reposición según patrones de venta.</a:t>
            </a:r>
            <a:endParaRPr sz="135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Plus Jakarta Sans"/>
              <a:buAutoNum type="arabicPeriod"/>
            </a:pPr>
            <a:r>
              <a:rPr b="1"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Desplegar Dashboard HQ:</a:t>
            </a:r>
            <a:r>
              <a:rPr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Panel de control administrativo para visualización de métricas, stock crítico y alertas preventivas.</a:t>
            </a:r>
            <a:endParaRPr sz="135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Plus Jakarta Sans"/>
              <a:buAutoNum type="arabicPeriod"/>
            </a:pPr>
            <a:r>
              <a:rPr b="1"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Aplicación</a:t>
            </a:r>
            <a:r>
              <a:rPr b="1"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Escritorio: </a:t>
            </a:r>
            <a:r>
              <a:rPr lang="es-CL" sz="13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Panel de Procesos Predictivos (Alertas de Stock, Ventas)</a:t>
            </a:r>
            <a:endParaRPr sz="135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152400" y="1197198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152450" y="3739725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7650" y="171425"/>
            <a:ext cx="38671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4925" y="107800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/>
          <p:cNvPicPr preferRelativeResize="0"/>
          <p:nvPr/>
        </p:nvPicPr>
        <p:blipFill rotWithShape="1">
          <a:blip r:embed="rId4">
            <a:alphaModFix/>
          </a:blip>
          <a:srcRect b="-1605" l="0" r="0" t="0"/>
          <a:stretch/>
        </p:blipFill>
        <p:spPr>
          <a:xfrm>
            <a:off x="152400" y="1673775"/>
            <a:ext cx="11887199" cy="404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 txBox="1"/>
          <p:nvPr>
            <p:ph type="title"/>
          </p:nvPr>
        </p:nvSpPr>
        <p:spPr>
          <a:xfrm>
            <a:off x="1758325" y="1236947"/>
            <a:ext cx="10515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pic>
        <p:nvPicPr>
          <p:cNvPr id="191" name="Google Shape;19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3175" y="116863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6"/>
          <p:cNvPicPr preferRelativeResize="0"/>
          <p:nvPr/>
        </p:nvPicPr>
        <p:blipFill rotWithShape="1">
          <a:blip r:embed="rId4">
            <a:alphaModFix/>
          </a:blip>
          <a:srcRect b="0" l="0" r="0" t="5186"/>
          <a:stretch/>
        </p:blipFill>
        <p:spPr>
          <a:xfrm>
            <a:off x="93125" y="2065300"/>
            <a:ext cx="11887198" cy="29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>
            <p:ph type="title"/>
          </p:nvPr>
        </p:nvSpPr>
        <p:spPr>
          <a:xfrm>
            <a:off x="1538566" y="1014318"/>
            <a:ext cx="105156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pic>
        <p:nvPicPr>
          <p:cNvPr id="198" name="Google Shape;19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50" y="71918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84993"/>
            <a:ext cx="11887199" cy="279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301d43bf6340a410_0_1"/>
          <p:cNvSpPr txBox="1"/>
          <p:nvPr>
            <p:ph type="title"/>
          </p:nvPr>
        </p:nvSpPr>
        <p:spPr>
          <a:xfrm>
            <a:off x="1650950" y="9499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Matriz de Riesgos</a:t>
            </a:r>
            <a:endParaRPr/>
          </a:p>
        </p:txBody>
      </p:sp>
      <p:pic>
        <p:nvPicPr>
          <p:cNvPr id="205" name="Google Shape;205;h301d43bf6340a41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32275"/>
            <a:ext cx="11887200" cy="27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h301d43bf6340a410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450" y="71918"/>
            <a:ext cx="38671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type="title"/>
          </p:nvPr>
        </p:nvSpPr>
        <p:spPr>
          <a:xfrm>
            <a:off x="235125" y="21025"/>
            <a:ext cx="3260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Vista De Escenarios</a:t>
            </a:r>
            <a:endParaRPr sz="3780"/>
          </a:p>
        </p:txBody>
      </p:sp>
      <p:sp>
        <p:nvSpPr>
          <p:cNvPr id="212" name="Google Shape;212;p9"/>
          <p:cNvSpPr txBox="1"/>
          <p:nvPr/>
        </p:nvSpPr>
        <p:spPr>
          <a:xfrm>
            <a:off x="1503463" y="1384225"/>
            <a:ext cx="2829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800" y="1504800"/>
            <a:ext cx="6113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1250" y="88674"/>
            <a:ext cx="2829750" cy="5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775" y="2534130"/>
            <a:ext cx="4835275" cy="341818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>
            <p:ph type="title"/>
          </p:nvPr>
        </p:nvSpPr>
        <p:spPr>
          <a:xfrm>
            <a:off x="4603500" y="88675"/>
            <a:ext cx="3260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Modelo 4+1</a:t>
            </a:r>
            <a:endParaRPr sz="37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b3689b09fc8131d_1_10"/>
          <p:cNvSpPr txBox="1"/>
          <p:nvPr>
            <p:ph type="title"/>
          </p:nvPr>
        </p:nvSpPr>
        <p:spPr>
          <a:xfrm>
            <a:off x="865400" y="21025"/>
            <a:ext cx="3260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Vista De Procesos</a:t>
            </a:r>
            <a:endParaRPr sz="3780"/>
          </a:p>
        </p:txBody>
      </p:sp>
      <p:pic>
        <p:nvPicPr>
          <p:cNvPr id="222" name="Google Shape;222;hb3689b09fc8131d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1525" y="88674"/>
            <a:ext cx="2829750" cy="5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hb3689b09fc8131d_1_10"/>
          <p:cNvSpPr txBox="1"/>
          <p:nvPr/>
        </p:nvSpPr>
        <p:spPr>
          <a:xfrm>
            <a:off x="4301400" y="665125"/>
            <a:ext cx="358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Proceso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hb3689b09fc8131d_1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5187" y="1258875"/>
            <a:ext cx="8221625" cy="5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1" title="Diagrama TO-BE_ Proceso de Compras en Líne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75" y="1046400"/>
            <a:ext cx="6004225" cy="30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1" title="Diagrama TO-BE_ Proceso de Recepción de Mercadería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775" y="1046400"/>
            <a:ext cx="5392201" cy="30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 txBox="1"/>
          <p:nvPr/>
        </p:nvSpPr>
        <p:spPr>
          <a:xfrm>
            <a:off x="668150" y="5993775"/>
            <a:ext cx="4578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6405738" y="506700"/>
            <a:ext cx="5330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Proceso de Recepción de Mercadería 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1364250" y="523200"/>
            <a:ext cx="410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Proceso de Compras en Línea 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4201850" y="32438"/>
            <a:ext cx="328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Actividades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4125" y="68400"/>
            <a:ext cx="386715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1" title="Diagrama TO-BE_ Generación de Sugerencias de Compra Automáticas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6850" y="4142450"/>
            <a:ext cx="6004224" cy="27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 txBox="1"/>
          <p:nvPr/>
        </p:nvSpPr>
        <p:spPr>
          <a:xfrm>
            <a:off x="141600" y="4465475"/>
            <a:ext cx="3511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Generación de Sugerencias de Compra Automáticas 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>
            <p:ph type="title"/>
          </p:nvPr>
        </p:nvSpPr>
        <p:spPr>
          <a:xfrm>
            <a:off x="144675" y="32450"/>
            <a:ext cx="326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680">
                <a:latin typeface="Calibri"/>
                <a:ea typeface="Calibri"/>
                <a:cs typeface="Calibri"/>
                <a:sym typeface="Calibri"/>
              </a:rPr>
              <a:t>Vista De Procesos</a:t>
            </a:r>
            <a:endParaRPr sz="358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/>
        </p:nvSpPr>
        <p:spPr>
          <a:xfrm>
            <a:off x="1429550" y="981200"/>
            <a:ext cx="2626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7926" y="102625"/>
            <a:ext cx="3505922" cy="6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88" y="2266675"/>
            <a:ext cx="3838975" cy="315033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>
            <p:ph type="title"/>
          </p:nvPr>
        </p:nvSpPr>
        <p:spPr>
          <a:xfrm>
            <a:off x="865400" y="21025"/>
            <a:ext cx="3260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Vista </a:t>
            </a: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Lógica</a:t>
            </a:r>
            <a:endParaRPr sz="3780"/>
          </a:p>
        </p:txBody>
      </p:sp>
      <p:pic>
        <p:nvPicPr>
          <p:cNvPr id="247" name="Google Shape;247;p8" title="supabase-schema-lndssmwhvifnndambwpe.png"/>
          <p:cNvPicPr preferRelativeResize="0"/>
          <p:nvPr/>
        </p:nvPicPr>
        <p:blipFill rotWithShape="1">
          <a:blip r:embed="rId5">
            <a:alphaModFix/>
          </a:blip>
          <a:srcRect b="3689" l="15713" r="22009" t="0"/>
          <a:stretch/>
        </p:blipFill>
        <p:spPr>
          <a:xfrm>
            <a:off x="4270200" y="818325"/>
            <a:ext cx="7592999" cy="56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hb3689b09fc8131d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925" y="1390600"/>
            <a:ext cx="7903125" cy="5181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hb3689b09fc8131d_1_18"/>
          <p:cNvSpPr txBox="1"/>
          <p:nvPr/>
        </p:nvSpPr>
        <p:spPr>
          <a:xfrm>
            <a:off x="4609050" y="796013"/>
            <a:ext cx="297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hb3689b09fc8131d_1_18"/>
          <p:cNvSpPr txBox="1"/>
          <p:nvPr>
            <p:ph type="title"/>
          </p:nvPr>
        </p:nvSpPr>
        <p:spPr>
          <a:xfrm>
            <a:off x="686250" y="80750"/>
            <a:ext cx="3260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Vista Lógica</a:t>
            </a:r>
            <a:endParaRPr sz="3780"/>
          </a:p>
        </p:txBody>
      </p:sp>
      <p:pic>
        <p:nvPicPr>
          <p:cNvPr id="255" name="Google Shape;255;hb3689b09fc8131d_1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101" y="87613"/>
            <a:ext cx="3505922" cy="6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b3689b09fc8131d_1_23"/>
          <p:cNvSpPr txBox="1"/>
          <p:nvPr>
            <p:ph type="title"/>
          </p:nvPr>
        </p:nvSpPr>
        <p:spPr>
          <a:xfrm>
            <a:off x="865400" y="21025"/>
            <a:ext cx="3260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880">
                <a:latin typeface="Calibri"/>
                <a:ea typeface="Calibri"/>
                <a:cs typeface="Calibri"/>
                <a:sym typeface="Calibri"/>
              </a:rPr>
              <a:t>Vista De Desarrollo</a:t>
            </a:r>
            <a:endParaRPr sz="3780"/>
          </a:p>
        </p:txBody>
      </p:sp>
      <p:sp>
        <p:nvSpPr>
          <p:cNvPr id="261" name="Google Shape;261;hb3689b09fc8131d_1_23"/>
          <p:cNvSpPr txBox="1"/>
          <p:nvPr/>
        </p:nvSpPr>
        <p:spPr>
          <a:xfrm>
            <a:off x="4376550" y="562463"/>
            <a:ext cx="3438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Componentes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hb3689b09fc8131d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525" y="1062950"/>
            <a:ext cx="8241525" cy="56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hb3689b09fc8131d_1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450" y="71918"/>
            <a:ext cx="38671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775" y="786325"/>
            <a:ext cx="5342000" cy="592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4575" y="97113"/>
            <a:ext cx="3542200" cy="55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150" y="2303850"/>
            <a:ext cx="5341999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 txBox="1"/>
          <p:nvPr>
            <p:ph type="title"/>
          </p:nvPr>
        </p:nvSpPr>
        <p:spPr>
          <a:xfrm>
            <a:off x="358326" y="113613"/>
            <a:ext cx="4076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s-CL" sz="2460"/>
              <a:t>Vista </a:t>
            </a:r>
            <a:r>
              <a:rPr lang="es-CL" sz="2460"/>
              <a:t>Física</a:t>
            </a:r>
            <a:endParaRPr sz="2460"/>
          </a:p>
        </p:txBody>
      </p:sp>
      <p:sp>
        <p:nvSpPr>
          <p:cNvPr id="272" name="Google Shape;272;p10"/>
          <p:cNvSpPr txBox="1"/>
          <p:nvPr/>
        </p:nvSpPr>
        <p:spPr>
          <a:xfrm>
            <a:off x="1652100" y="878875"/>
            <a:ext cx="326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b3689b09fc8131d_1_0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AS IS</a:t>
            </a:r>
            <a:endParaRPr/>
          </a:p>
        </p:txBody>
      </p:sp>
      <p:pic>
        <p:nvPicPr>
          <p:cNvPr id="278" name="Google Shape;278;hb3689b09fc8131d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50" y="71918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hb3689b09fc8131d_1_0" title="AS IS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225" y="1472950"/>
            <a:ext cx="9116760" cy="48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b3689b09fc8131d_1_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TO-BE</a:t>
            </a:r>
            <a:endParaRPr/>
          </a:p>
        </p:txBody>
      </p:sp>
      <p:pic>
        <p:nvPicPr>
          <p:cNvPr id="285" name="Google Shape;285;hb3689b09fc8131d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50" y="71918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hb3689b09fc8131d_1_4" title="TO BE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96300"/>
            <a:ext cx="11887201" cy="424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>
            <p:ph type="title"/>
          </p:nvPr>
        </p:nvSpPr>
        <p:spPr>
          <a:xfrm>
            <a:off x="1794277" y="1128661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pic>
        <p:nvPicPr>
          <p:cNvPr id="292" name="Google Shape;29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9525" y="120128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25161"/>
            <a:ext cx="11887198" cy="39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6100" y="118638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83450"/>
            <a:ext cx="11887198" cy="51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h56d519529de4599c_0_0"/>
          <p:cNvPicPr preferRelativeResize="0"/>
          <p:nvPr/>
        </p:nvPicPr>
        <p:blipFill rotWithShape="1">
          <a:blip r:embed="rId3">
            <a:alphaModFix/>
          </a:blip>
          <a:srcRect b="2238" l="682" r="435" t="1293"/>
          <a:stretch/>
        </p:blipFill>
        <p:spPr>
          <a:xfrm>
            <a:off x="1224275" y="627075"/>
            <a:ext cx="9645000" cy="522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 txBox="1"/>
          <p:nvPr/>
        </p:nvSpPr>
        <p:spPr>
          <a:xfrm>
            <a:off x="1285425" y="706575"/>
            <a:ext cx="1119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0" name="Google Shape;3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0100" y="68825"/>
            <a:ext cx="38671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58efd7b550deba3d_5_0"/>
          <p:cNvSpPr txBox="1"/>
          <p:nvPr>
            <p:ph type="title"/>
          </p:nvPr>
        </p:nvSpPr>
        <p:spPr>
          <a:xfrm>
            <a:off x="4962075" y="881375"/>
            <a:ext cx="1932600" cy="55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ANEXOS</a:t>
            </a:r>
            <a:endParaRPr/>
          </a:p>
        </p:txBody>
      </p:sp>
      <p:pic>
        <p:nvPicPr>
          <p:cNvPr id="316" name="Google Shape;316;h58efd7b550deba3d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20850"/>
            <a:ext cx="7050325" cy="20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h58efd7b550deba3d_5_0"/>
          <p:cNvSpPr txBox="1"/>
          <p:nvPr/>
        </p:nvSpPr>
        <p:spPr>
          <a:xfrm>
            <a:off x="152400" y="3965975"/>
            <a:ext cx="25827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Matriz RACI</a:t>
            </a:r>
            <a:endParaRPr b="1" sz="28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h58efd7b550deba3d_5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4975" y="81623"/>
            <a:ext cx="3867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h58efd7b550deba3d_5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00" y="1979975"/>
            <a:ext cx="9993123" cy="20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h58efd7b550deba3d_5_0"/>
          <p:cNvSpPr txBox="1"/>
          <p:nvPr/>
        </p:nvSpPr>
        <p:spPr>
          <a:xfrm>
            <a:off x="152400" y="1490800"/>
            <a:ext cx="5141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Matriz de Control de Cambio</a:t>
            </a:r>
            <a:endParaRPr b="1" sz="28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